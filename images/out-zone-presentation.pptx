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66" r:id="rId2"/>
    <p:sldId id="267" r:id="rId3"/>
    <p:sldId id="258" r:id="rId4"/>
    <p:sldId id="268" r:id="rId5"/>
    <p:sldId id="262" r:id="rId6"/>
    <p:sldId id="269" r:id="rId7"/>
    <p:sldId id="264" r:id="rId8"/>
    <p:sldId id="263" r:id="rId9"/>
    <p:sldId id="265" r:id="rId10"/>
  </p:sldIdLst>
  <p:sldSz cx="18288000" cy="10287000"/>
  <p:notesSz cx="6858000" cy="9144000"/>
  <p:embeddedFontLst>
    <p:embeddedFont>
      <p:font typeface="Poppins" panose="00000500000000000000" pitchFamily="2" charset="0"/>
      <p:regular r:id="rId12"/>
      <p:bold r:id="rId13"/>
      <p:italic r:id="rId14"/>
      <p:boldItalic r:id="rId15"/>
    </p:embeddedFont>
    <p:embeddedFont>
      <p:font typeface="Poppins Bold" panose="00000800000000000000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AF00"/>
    <a:srgbClr val="FFD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943" autoAdjust="0"/>
  </p:normalViewPr>
  <p:slideViewPr>
    <p:cSldViewPr>
      <p:cViewPr varScale="1">
        <p:scale>
          <a:sx n="52" d="100"/>
          <a:sy n="52" d="100"/>
        </p:scale>
        <p:origin x="850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81353-0792-4075-B7B7-9F554FFEA38C}" type="datetimeFigureOut">
              <a:rPr lang="en-GB" smtClean="0"/>
              <a:t>20/04/2025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FC0A2-150B-4A7D-B36C-3FF991D0AB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303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FC0A2-150B-4A7D-B36C-3FF991D0AB7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563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8.svg"/><Relationship Id="rId7" Type="http://schemas.openxmlformats.org/officeDocument/2006/relationships/image" Target="../media/image31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g"/><Relationship Id="rId5" Type="http://schemas.openxmlformats.org/officeDocument/2006/relationships/image" Target="../media/image29.jpe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8.jp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2.png"/><Relationship Id="rId7" Type="http://schemas.openxmlformats.org/officeDocument/2006/relationships/image" Target="../media/image41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4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50.svg"/><Relationship Id="rId12" Type="http://schemas.openxmlformats.org/officeDocument/2006/relationships/image" Target="../media/image26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28.svg"/><Relationship Id="rId5" Type="http://schemas.openxmlformats.org/officeDocument/2006/relationships/image" Target="../media/image48.svg"/><Relationship Id="rId10" Type="http://schemas.openxmlformats.org/officeDocument/2006/relationships/image" Target="../media/image27.pn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.svg"/><Relationship Id="rId18" Type="http://schemas.openxmlformats.org/officeDocument/2006/relationships/image" Target="../media/image57.svg"/><Relationship Id="rId26" Type="http://schemas.openxmlformats.org/officeDocument/2006/relationships/image" Target="../media/image65.svg"/><Relationship Id="rId3" Type="http://schemas.openxmlformats.org/officeDocument/2006/relationships/image" Target="../media/image20.svg"/><Relationship Id="rId21" Type="http://schemas.openxmlformats.org/officeDocument/2006/relationships/image" Target="../media/image60.png"/><Relationship Id="rId7" Type="http://schemas.openxmlformats.org/officeDocument/2006/relationships/image" Target="../media/image22.svg"/><Relationship Id="rId12" Type="http://schemas.openxmlformats.org/officeDocument/2006/relationships/image" Target="../media/image3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2" Type="http://schemas.openxmlformats.org/officeDocument/2006/relationships/image" Target="../media/image19.png"/><Relationship Id="rId16" Type="http://schemas.openxmlformats.org/officeDocument/2006/relationships/image" Target="../media/image55.svg"/><Relationship Id="rId20" Type="http://schemas.openxmlformats.org/officeDocument/2006/relationships/image" Target="../media/image5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53.jpeg"/><Relationship Id="rId24" Type="http://schemas.openxmlformats.org/officeDocument/2006/relationships/image" Target="../media/image63.svg"/><Relationship Id="rId5" Type="http://schemas.openxmlformats.org/officeDocument/2006/relationships/image" Target="../media/image8.sv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10" Type="http://schemas.openxmlformats.org/officeDocument/2006/relationships/image" Target="../media/image26.png"/><Relationship Id="rId19" Type="http://schemas.openxmlformats.org/officeDocument/2006/relationships/image" Target="../media/image58.png"/><Relationship Id="rId4" Type="http://schemas.openxmlformats.org/officeDocument/2006/relationships/image" Target="../media/image7.png"/><Relationship Id="rId9" Type="http://schemas.openxmlformats.org/officeDocument/2006/relationships/image" Target="../media/image25.svg"/><Relationship Id="rId14" Type="http://schemas.openxmlformats.org/officeDocument/2006/relationships/image" Target="../media/image6.png"/><Relationship Id="rId22" Type="http://schemas.openxmlformats.org/officeDocument/2006/relationships/image" Target="../media/image6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3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Freeform 3"/>
          <p:cNvSpPr/>
          <p:nvPr/>
        </p:nvSpPr>
        <p:spPr>
          <a:xfrm>
            <a:off x="1295400" y="7648615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7"/>
                </a:lnTo>
                <a:lnTo>
                  <a:pt x="0" y="2820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826880" y="-2364066"/>
            <a:ext cx="18932783" cy="11105051"/>
            <a:chOff x="-975553" y="-47625"/>
            <a:chExt cx="4986412" cy="2924787"/>
          </a:xfrm>
        </p:grpSpPr>
        <p:sp>
          <p:nvSpPr>
            <p:cNvPr id="5" name="Freeform 5"/>
            <p:cNvSpPr/>
            <p:nvPr/>
          </p:nvSpPr>
          <p:spPr>
            <a:xfrm>
              <a:off x="-975553" y="1022414"/>
              <a:ext cx="4114173" cy="1854748"/>
            </a:xfrm>
            <a:custGeom>
              <a:avLst/>
              <a:gdLst/>
              <a:ahLst/>
              <a:cxnLst/>
              <a:rect l="l" t="t" r="r" b="b"/>
              <a:pathLst>
                <a:path w="4010859" h="1854748">
                  <a:moveTo>
                    <a:pt x="25927" y="0"/>
                  </a:moveTo>
                  <a:lnTo>
                    <a:pt x="3984932" y="0"/>
                  </a:lnTo>
                  <a:cubicBezTo>
                    <a:pt x="3991808" y="0"/>
                    <a:pt x="3998403" y="2732"/>
                    <a:pt x="4003265" y="7594"/>
                  </a:cubicBezTo>
                  <a:cubicBezTo>
                    <a:pt x="4008127" y="12456"/>
                    <a:pt x="4010859" y="19051"/>
                    <a:pt x="4010859" y="25927"/>
                  </a:cubicBezTo>
                  <a:lnTo>
                    <a:pt x="4010859" y="1828821"/>
                  </a:lnTo>
                  <a:cubicBezTo>
                    <a:pt x="4010859" y="1843140"/>
                    <a:pt x="3999251" y="1854748"/>
                    <a:pt x="3984932" y="1854748"/>
                  </a:cubicBezTo>
                  <a:lnTo>
                    <a:pt x="25927" y="1854748"/>
                  </a:lnTo>
                  <a:cubicBezTo>
                    <a:pt x="19051" y="1854748"/>
                    <a:pt x="12456" y="1852017"/>
                    <a:pt x="7594" y="1847154"/>
                  </a:cubicBezTo>
                  <a:cubicBezTo>
                    <a:pt x="2732" y="1842292"/>
                    <a:pt x="0" y="1835697"/>
                    <a:pt x="0" y="1828821"/>
                  </a:cubicBezTo>
                  <a:lnTo>
                    <a:pt x="0" y="25927"/>
                  </a:lnTo>
                  <a:cubicBezTo>
                    <a:pt x="0" y="19051"/>
                    <a:pt x="2732" y="12456"/>
                    <a:pt x="7594" y="7594"/>
                  </a:cubicBezTo>
                  <a:cubicBezTo>
                    <a:pt x="12456" y="2732"/>
                    <a:pt x="19051" y="0"/>
                    <a:pt x="259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010859" cy="1902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417543" y="2326914"/>
            <a:ext cx="2757441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Media QR.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52870" y="6252290"/>
            <a:ext cx="8988747" cy="1392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10924" b="1" dirty="0"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sz="10924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924" b="1" dirty="0">
                <a:solidFill>
                  <a:srgbClr val="FFC000"/>
                </a:solidFill>
                <a:latin typeface="Poppins Bold"/>
                <a:ea typeface="Poppins Bold"/>
                <a:cs typeface="Poppins Bold"/>
                <a:sym typeface="Poppins Bold"/>
              </a:rPr>
              <a:t>Zone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384091" y="2208971"/>
            <a:ext cx="559623" cy="531133"/>
          </a:xfrm>
          <a:custGeom>
            <a:avLst/>
            <a:gdLst/>
            <a:ahLst/>
            <a:cxnLst/>
            <a:rect l="l" t="t" r="r" b="b"/>
            <a:pathLst>
              <a:path w="559623" h="531133">
                <a:moveTo>
                  <a:pt x="0" y="0"/>
                </a:moveTo>
                <a:lnTo>
                  <a:pt x="559623" y="0"/>
                </a:lnTo>
                <a:lnTo>
                  <a:pt x="559623" y="531133"/>
                </a:lnTo>
                <a:lnTo>
                  <a:pt x="0" y="5311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15" name="Picture 14" descr="A yellow z with lightning bolt in the middle&#10;&#10;Description automatically generated">
            <a:extLst>
              <a:ext uri="{FF2B5EF4-FFF2-40B4-BE49-F238E27FC236}">
                <a16:creationId xmlns:a16="http://schemas.microsoft.com/office/drawing/2014/main" id="{BAF4414E-2954-5F22-57AA-3575848DEAD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792" y="1273170"/>
            <a:ext cx="4223465" cy="3830581"/>
          </a:xfrm>
          <a:prstGeom prst="rect">
            <a:avLst/>
          </a:prstGeom>
        </p:spPr>
      </p:pic>
      <p:pic>
        <p:nvPicPr>
          <p:cNvPr id="14" name="Picture 13" descr="A yellow and black qr code&#10;&#10;Description automatically generated">
            <a:extLst>
              <a:ext uri="{FF2B5EF4-FFF2-40B4-BE49-F238E27FC236}">
                <a16:creationId xmlns:a16="http://schemas.microsoft.com/office/drawing/2014/main" id="{D270DDB1-5462-D9ED-76C2-F7D0656B6DF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2761" y="2921786"/>
            <a:ext cx="2964319" cy="3004508"/>
          </a:xfrm>
          <a:prstGeom prst="rect">
            <a:avLst/>
          </a:prstGeom>
        </p:spPr>
      </p:pic>
      <p:sp>
        <p:nvSpPr>
          <p:cNvPr id="16" name="Freeform 4">
            <a:extLst>
              <a:ext uri="{FF2B5EF4-FFF2-40B4-BE49-F238E27FC236}">
                <a16:creationId xmlns:a16="http://schemas.microsoft.com/office/drawing/2014/main" id="{5CEB0620-C0C8-AD9C-E1BF-75FB1E6584D4}"/>
              </a:ext>
            </a:extLst>
          </p:cNvPr>
          <p:cNvSpPr/>
          <p:nvPr/>
        </p:nvSpPr>
        <p:spPr>
          <a:xfrm>
            <a:off x="15192070" y="6830378"/>
            <a:ext cx="639702" cy="535359"/>
          </a:xfrm>
          <a:custGeom>
            <a:avLst/>
            <a:gdLst/>
            <a:ahLst/>
            <a:cxnLst/>
            <a:rect l="l" t="t" r="r" b="b"/>
            <a:pathLst>
              <a:path w="463567" h="463567">
                <a:moveTo>
                  <a:pt x="0" y="0"/>
                </a:moveTo>
                <a:lnTo>
                  <a:pt x="463567" y="0"/>
                </a:lnTo>
                <a:lnTo>
                  <a:pt x="463567" y="463568"/>
                </a:lnTo>
                <a:lnTo>
                  <a:pt x="0" y="4635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C66FE7FE-04E2-3206-967C-5496EB5AF827}"/>
              </a:ext>
            </a:extLst>
          </p:cNvPr>
          <p:cNvSpPr/>
          <p:nvPr/>
        </p:nvSpPr>
        <p:spPr>
          <a:xfrm>
            <a:off x="14000557" y="6843273"/>
            <a:ext cx="639701" cy="479346"/>
          </a:xfrm>
          <a:custGeom>
            <a:avLst/>
            <a:gdLst/>
            <a:ahLst/>
            <a:cxnLst/>
            <a:rect l="l" t="t" r="r" b="b"/>
            <a:pathLst>
              <a:path w="1335740" h="1453867">
                <a:moveTo>
                  <a:pt x="0" y="0"/>
                </a:moveTo>
                <a:lnTo>
                  <a:pt x="1335740" y="0"/>
                </a:lnTo>
                <a:lnTo>
                  <a:pt x="1335740" y="1453867"/>
                </a:lnTo>
                <a:lnTo>
                  <a:pt x="0" y="14538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3FD6AA3A-6DC2-C030-6C62-AA938099C515}"/>
              </a:ext>
            </a:extLst>
          </p:cNvPr>
          <p:cNvSpPr/>
          <p:nvPr/>
        </p:nvSpPr>
        <p:spPr>
          <a:xfrm>
            <a:off x="16195314" y="6852645"/>
            <a:ext cx="564552" cy="479346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08710293-726C-6FDF-EC84-CF458D0BDE51}"/>
              </a:ext>
            </a:extLst>
          </p:cNvPr>
          <p:cNvSpPr/>
          <p:nvPr/>
        </p:nvSpPr>
        <p:spPr>
          <a:xfrm>
            <a:off x="15161584" y="6071685"/>
            <a:ext cx="564552" cy="362945"/>
          </a:xfrm>
          <a:custGeom>
            <a:avLst/>
            <a:gdLst/>
            <a:ahLst/>
            <a:cxnLst/>
            <a:rect l="l" t="t" r="r" b="b"/>
            <a:pathLst>
              <a:path w="1176117" h="2490356">
                <a:moveTo>
                  <a:pt x="0" y="0"/>
                </a:moveTo>
                <a:lnTo>
                  <a:pt x="1176117" y="0"/>
                </a:lnTo>
                <a:lnTo>
                  <a:pt x="1176117" y="2490356"/>
                </a:lnTo>
                <a:lnTo>
                  <a:pt x="0" y="24903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20" name="Freeform 13">
            <a:extLst>
              <a:ext uri="{FF2B5EF4-FFF2-40B4-BE49-F238E27FC236}">
                <a16:creationId xmlns:a16="http://schemas.microsoft.com/office/drawing/2014/main" id="{036E18F0-F638-C21A-725E-9949959A639B}"/>
              </a:ext>
            </a:extLst>
          </p:cNvPr>
          <p:cNvSpPr/>
          <p:nvPr/>
        </p:nvSpPr>
        <p:spPr>
          <a:xfrm>
            <a:off x="13940775" y="6071684"/>
            <a:ext cx="639702" cy="362946"/>
          </a:xfrm>
          <a:custGeom>
            <a:avLst/>
            <a:gdLst/>
            <a:ahLst/>
            <a:cxnLst/>
            <a:rect l="l" t="t" r="r" b="b"/>
            <a:pathLst>
              <a:path w="3729710" h="2750661">
                <a:moveTo>
                  <a:pt x="0" y="0"/>
                </a:moveTo>
                <a:lnTo>
                  <a:pt x="3729710" y="0"/>
                </a:lnTo>
                <a:lnTo>
                  <a:pt x="3729710" y="2750661"/>
                </a:lnTo>
                <a:lnTo>
                  <a:pt x="0" y="27506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15">
            <a:extLst>
              <a:ext uri="{FF2B5EF4-FFF2-40B4-BE49-F238E27FC236}">
                <a16:creationId xmlns:a16="http://schemas.microsoft.com/office/drawing/2014/main" id="{5B8A105C-810D-C351-D514-F26A5A660CDF}"/>
              </a:ext>
            </a:extLst>
          </p:cNvPr>
          <p:cNvSpPr/>
          <p:nvPr/>
        </p:nvSpPr>
        <p:spPr>
          <a:xfrm>
            <a:off x="16146582" y="6076969"/>
            <a:ext cx="639702" cy="362946"/>
          </a:xfrm>
          <a:custGeom>
            <a:avLst/>
            <a:gdLst/>
            <a:ahLst/>
            <a:cxnLst/>
            <a:rect l="l" t="t" r="r" b="b"/>
            <a:pathLst>
              <a:path w="2490356" h="2490356">
                <a:moveTo>
                  <a:pt x="0" y="0"/>
                </a:moveTo>
                <a:lnTo>
                  <a:pt x="2490356" y="0"/>
                </a:lnTo>
                <a:lnTo>
                  <a:pt x="2490356" y="2490356"/>
                </a:lnTo>
                <a:lnTo>
                  <a:pt x="0" y="249035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25A1F7B9-56AA-08EC-2506-24BA04A6E166}"/>
              </a:ext>
            </a:extLst>
          </p:cNvPr>
          <p:cNvSpPr/>
          <p:nvPr/>
        </p:nvSpPr>
        <p:spPr>
          <a:xfrm>
            <a:off x="1899001" y="7946062"/>
            <a:ext cx="463567" cy="463567"/>
          </a:xfrm>
          <a:custGeom>
            <a:avLst/>
            <a:gdLst/>
            <a:ahLst/>
            <a:cxnLst/>
            <a:rect l="l" t="t" r="r" b="b"/>
            <a:pathLst>
              <a:path w="463567" h="463567">
                <a:moveTo>
                  <a:pt x="0" y="0"/>
                </a:moveTo>
                <a:lnTo>
                  <a:pt x="463567" y="0"/>
                </a:lnTo>
                <a:lnTo>
                  <a:pt x="463567" y="463567"/>
                </a:lnTo>
                <a:lnTo>
                  <a:pt x="0" y="46356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1AC3AAB0-93B2-6F8B-36EA-075764611871}"/>
              </a:ext>
            </a:extLst>
          </p:cNvPr>
          <p:cNvSpPr/>
          <p:nvPr/>
        </p:nvSpPr>
        <p:spPr>
          <a:xfrm>
            <a:off x="5250660" y="7915722"/>
            <a:ext cx="463567" cy="463567"/>
          </a:xfrm>
          <a:custGeom>
            <a:avLst/>
            <a:gdLst/>
            <a:ahLst/>
            <a:cxnLst/>
            <a:rect l="l" t="t" r="r" b="b"/>
            <a:pathLst>
              <a:path w="463567" h="463567">
                <a:moveTo>
                  <a:pt x="0" y="0"/>
                </a:moveTo>
                <a:lnTo>
                  <a:pt x="463567" y="0"/>
                </a:lnTo>
                <a:lnTo>
                  <a:pt x="463567" y="463567"/>
                </a:lnTo>
                <a:lnTo>
                  <a:pt x="0" y="46356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5E8E65-2055-0FE8-908D-3A53BBE182C0}"/>
              </a:ext>
            </a:extLst>
          </p:cNvPr>
          <p:cNvSpPr txBox="1"/>
          <p:nvPr/>
        </p:nvSpPr>
        <p:spPr>
          <a:xfrm>
            <a:off x="2384526" y="7887986"/>
            <a:ext cx="271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C000"/>
                </a:solidFill>
              </a:rPr>
              <a:t>+201558795406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85ABF9-9AF8-4BD5-9963-AB22E903AB69}"/>
              </a:ext>
            </a:extLst>
          </p:cNvPr>
          <p:cNvSpPr txBox="1"/>
          <p:nvPr/>
        </p:nvSpPr>
        <p:spPr>
          <a:xfrm>
            <a:off x="5865900" y="7890696"/>
            <a:ext cx="4573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C000"/>
                </a:solidFill>
              </a:rPr>
              <a:t>info.outzone@gmail.com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A178F-C1EE-8E68-343F-AA05891C6602}"/>
              </a:ext>
            </a:extLst>
          </p:cNvPr>
          <p:cNvSpPr txBox="1"/>
          <p:nvPr/>
        </p:nvSpPr>
        <p:spPr>
          <a:xfrm>
            <a:off x="6475793" y="4437929"/>
            <a:ext cx="59397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0" b="1" dirty="0"/>
              <a:t>Start</a:t>
            </a:r>
            <a:r>
              <a:rPr lang="en-GB" sz="12000" b="1" dirty="0">
                <a:solidFill>
                  <a:srgbClr val="FFC000"/>
                </a:solidFill>
              </a:rPr>
              <a:t>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402076" y="-639702"/>
            <a:ext cx="9277472" cy="11566404"/>
            <a:chOff x="0" y="0"/>
            <a:chExt cx="2443449" cy="30462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3449" cy="3046296"/>
            </a:xfrm>
            <a:custGeom>
              <a:avLst/>
              <a:gdLst/>
              <a:ahLst/>
              <a:cxnLst/>
              <a:rect l="l" t="t" r="r" b="b"/>
              <a:pathLst>
                <a:path w="2443449" h="3046296">
                  <a:moveTo>
                    <a:pt x="42559" y="0"/>
                  </a:moveTo>
                  <a:lnTo>
                    <a:pt x="2400891" y="0"/>
                  </a:lnTo>
                  <a:cubicBezTo>
                    <a:pt x="2412178" y="0"/>
                    <a:pt x="2423003" y="4484"/>
                    <a:pt x="2430984" y="12465"/>
                  </a:cubicBezTo>
                  <a:cubicBezTo>
                    <a:pt x="2438966" y="20446"/>
                    <a:pt x="2443449" y="31271"/>
                    <a:pt x="2443449" y="42559"/>
                  </a:cubicBezTo>
                  <a:lnTo>
                    <a:pt x="2443449" y="3003737"/>
                  </a:lnTo>
                  <a:cubicBezTo>
                    <a:pt x="2443449" y="3015024"/>
                    <a:pt x="2438966" y="3025849"/>
                    <a:pt x="2430984" y="3033831"/>
                  </a:cubicBezTo>
                  <a:cubicBezTo>
                    <a:pt x="2423003" y="3041812"/>
                    <a:pt x="2412178" y="3046296"/>
                    <a:pt x="2400891" y="3046296"/>
                  </a:cubicBezTo>
                  <a:lnTo>
                    <a:pt x="42559" y="3046296"/>
                  </a:lnTo>
                  <a:cubicBezTo>
                    <a:pt x="31271" y="3046296"/>
                    <a:pt x="20446" y="3041812"/>
                    <a:pt x="12465" y="3033831"/>
                  </a:cubicBezTo>
                  <a:cubicBezTo>
                    <a:pt x="4484" y="3025849"/>
                    <a:pt x="0" y="3015024"/>
                    <a:pt x="0" y="3003737"/>
                  </a:cubicBezTo>
                  <a:lnTo>
                    <a:pt x="0" y="42559"/>
                  </a:lnTo>
                  <a:cubicBezTo>
                    <a:pt x="0" y="31271"/>
                    <a:pt x="4484" y="20446"/>
                    <a:pt x="12465" y="12465"/>
                  </a:cubicBezTo>
                  <a:cubicBezTo>
                    <a:pt x="20446" y="4484"/>
                    <a:pt x="31271" y="0"/>
                    <a:pt x="42559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43449" cy="3103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063598" y="1853802"/>
            <a:ext cx="10941092" cy="8433198"/>
          </a:xfrm>
          <a:custGeom>
            <a:avLst/>
            <a:gdLst/>
            <a:ahLst/>
            <a:cxnLst/>
            <a:rect l="l" t="t" r="r" b="b"/>
            <a:pathLst>
              <a:path w="13369440" h="9258337">
                <a:moveTo>
                  <a:pt x="0" y="0"/>
                </a:moveTo>
                <a:lnTo>
                  <a:pt x="13369439" y="0"/>
                </a:lnTo>
                <a:lnTo>
                  <a:pt x="13369439" y="9258337"/>
                </a:lnTo>
                <a:lnTo>
                  <a:pt x="0" y="9258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7" name="Freeform 7"/>
          <p:cNvSpPr/>
          <p:nvPr/>
        </p:nvSpPr>
        <p:spPr>
          <a:xfrm>
            <a:off x="10006201" y="630249"/>
            <a:ext cx="3001761" cy="1031514"/>
          </a:xfrm>
          <a:custGeom>
            <a:avLst/>
            <a:gdLst/>
            <a:ahLst/>
            <a:cxnLst/>
            <a:rect l="l" t="t" r="r" b="b"/>
            <a:pathLst>
              <a:path w="3001761" h="1031514">
                <a:moveTo>
                  <a:pt x="0" y="0"/>
                </a:moveTo>
                <a:lnTo>
                  <a:pt x="3001761" y="0"/>
                </a:lnTo>
                <a:lnTo>
                  <a:pt x="3001761" y="1031514"/>
                </a:lnTo>
                <a:lnTo>
                  <a:pt x="0" y="1031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221870" y="2487712"/>
            <a:ext cx="4924952" cy="88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id="10" name="TextBox 10"/>
          <p:cNvSpPr txBox="1"/>
          <p:nvPr/>
        </p:nvSpPr>
        <p:spPr>
          <a:xfrm rot="5400000">
            <a:off x="3316213" y="3249807"/>
            <a:ext cx="1551617" cy="815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 dirty="0">
                <a:solidFill>
                  <a:srgbClr val="FFC000"/>
                </a:solidFill>
                <a:latin typeface="Poppins Bold"/>
                <a:ea typeface="Poppins Bold"/>
                <a:cs typeface="Poppins Bold"/>
                <a:sym typeface="Poppins Bold"/>
              </a:rPr>
              <a:t>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400" y="4011988"/>
            <a:ext cx="8488161" cy="4638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413"/>
              </a:lnSpc>
            </a:pPr>
            <a:r>
              <a:rPr lang="en-GB" sz="3600" b="1" i="0" u="none" strike="noStrike" dirty="0">
                <a:effectLst/>
                <a:highlight>
                  <a:srgbClr val="EEEEEE"/>
                </a:highlight>
                <a:latin typeface="Cairo"/>
              </a:rPr>
              <a:t>Out</a:t>
            </a:r>
            <a:r>
              <a:rPr lang="en-GB" sz="3600" b="1" i="0" u="none" strike="noStrike" dirty="0">
                <a:solidFill>
                  <a:srgbClr val="051C6D"/>
                </a:solidFill>
                <a:effectLst/>
                <a:highlight>
                  <a:srgbClr val="EEEEEE"/>
                </a:highlight>
                <a:latin typeface="Cairo"/>
              </a:rPr>
              <a:t> </a:t>
            </a:r>
            <a:r>
              <a:rPr lang="en-GB" sz="3600" b="1" i="0" u="none" strike="noStrike" dirty="0">
                <a:solidFill>
                  <a:srgbClr val="FFC000"/>
                </a:solidFill>
                <a:effectLst/>
                <a:highlight>
                  <a:srgbClr val="EEEEEE"/>
                </a:highlight>
                <a:latin typeface="Cairo"/>
              </a:rPr>
              <a:t>zone</a:t>
            </a:r>
            <a:r>
              <a:rPr lang="en-GB" sz="3600" b="1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Cairo"/>
              </a:rPr>
              <a:t> :</a:t>
            </a:r>
          </a:p>
          <a:p>
            <a:pPr marL="0" lvl="0" indent="0" algn="r" rtl="1">
              <a:lnSpc>
                <a:spcPts val="2413"/>
              </a:lnSpc>
            </a:pPr>
            <a:r>
              <a:rPr lang="ar-EG" sz="2400" b="1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Cairo"/>
              </a:rPr>
              <a:t>عبارة عن مجموعة من المهندسين المختصين لتقديم الخدمات الهندسية المختلفة مثل:</a:t>
            </a:r>
            <a:br>
              <a:rPr lang="ar-EG" sz="2400" b="1" dirty="0"/>
            </a:br>
            <a:br>
              <a:rPr lang="ar-EG" sz="2400" b="1" dirty="0"/>
            </a:br>
            <a:r>
              <a:rPr lang="en-GB" sz="32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EEEEEE"/>
                </a:highlight>
                <a:latin typeface="Cairo"/>
              </a:rPr>
              <a:t>Electrical team:</a:t>
            </a:r>
          </a:p>
          <a:p>
            <a:pPr marL="0" lvl="0" indent="0" algn="r" rtl="1">
              <a:lnSpc>
                <a:spcPts val="2413"/>
              </a:lnSpc>
            </a:pPr>
            <a:endParaRPr lang="en-GB" sz="2800" b="1" i="0" u="none" strike="noStrike" dirty="0">
              <a:solidFill>
                <a:srgbClr val="4D056D"/>
              </a:solidFill>
              <a:effectLst/>
              <a:highlight>
                <a:srgbClr val="EEEEEE"/>
              </a:highlight>
              <a:latin typeface="Cairo"/>
            </a:endParaRPr>
          </a:p>
          <a:p>
            <a:pPr marL="0" lvl="0" indent="0" algn="r" rtl="1">
              <a:lnSpc>
                <a:spcPts val="2413"/>
              </a:lnSpc>
            </a:pPr>
            <a:r>
              <a:rPr lang="en-GB" sz="2800" b="1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Cairo"/>
              </a:rPr>
              <a:t> </a:t>
            </a:r>
            <a:r>
              <a:rPr lang="ar-EG" sz="2800" b="1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Cairo"/>
              </a:rPr>
              <a:t>نقوم بتقديم الرسومات التصميميه والتفيذيه لل </a:t>
            </a:r>
            <a:r>
              <a:rPr lang="en-GB" sz="2800" b="1" i="0" u="none" strike="noStrike" dirty="0">
                <a:solidFill>
                  <a:srgbClr val="FFC000"/>
                </a:solidFill>
                <a:effectLst/>
                <a:highlight>
                  <a:srgbClr val="EEEEEE"/>
                </a:highlight>
                <a:latin typeface="Cairo"/>
              </a:rPr>
              <a:t>Low voltage &amp;</a:t>
            </a:r>
            <a:r>
              <a:rPr lang="en-GB" sz="2800" b="1" i="0" u="none" strike="noStrike" dirty="0">
                <a:solidFill>
                  <a:srgbClr val="BA3B68"/>
                </a:solidFill>
                <a:effectLst/>
                <a:highlight>
                  <a:srgbClr val="EEEEEE"/>
                </a:highlight>
                <a:latin typeface="Cairo"/>
              </a:rPr>
              <a:t> </a:t>
            </a:r>
            <a:r>
              <a:rPr lang="en-GB" sz="2800" b="1" i="0" u="none" strike="noStrike" dirty="0">
                <a:solidFill>
                  <a:srgbClr val="FFC000"/>
                </a:solidFill>
                <a:effectLst/>
                <a:highlight>
                  <a:srgbClr val="EEEEEE"/>
                </a:highlight>
                <a:latin typeface="Cairo"/>
              </a:rPr>
              <a:t>Light current system</a:t>
            </a:r>
            <a:r>
              <a:rPr lang="en-GB" sz="2800" b="1" i="0" dirty="0">
                <a:solidFill>
                  <a:srgbClr val="FFC000"/>
                </a:solidFill>
                <a:effectLst/>
                <a:highlight>
                  <a:srgbClr val="EEEEEE"/>
                </a:highlight>
                <a:latin typeface="Cairo"/>
              </a:rPr>
              <a:t> </a:t>
            </a:r>
            <a:r>
              <a:rPr lang="ar-EG" sz="2800" b="1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Cairo"/>
              </a:rPr>
              <a:t>ويتم استخدام البرامج الآتية: </a:t>
            </a:r>
            <a:r>
              <a:rPr lang="en-GB" sz="2800" b="1" i="0" u="none" strike="noStrike" dirty="0">
                <a:solidFill>
                  <a:srgbClr val="FFC000"/>
                </a:solidFill>
                <a:effectLst/>
                <a:highlight>
                  <a:srgbClr val="EEEEEE"/>
                </a:highlight>
                <a:latin typeface="Cairo"/>
              </a:rPr>
              <a:t>AutoCAD &amp; REVIT &amp; DIALUX &amp; ETAP &amp; office program</a:t>
            </a:r>
            <a:br>
              <a:rPr lang="en-GB" sz="2400" b="1" dirty="0"/>
            </a:br>
            <a:br>
              <a:rPr lang="en-GB" sz="2400" b="1" dirty="0"/>
            </a:br>
            <a:r>
              <a:rPr lang="en-GB" sz="32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highlight>
                  <a:srgbClr val="EEEEEE"/>
                </a:highlight>
                <a:latin typeface="Cairo"/>
              </a:rPr>
              <a:t>Architecture team:</a:t>
            </a:r>
          </a:p>
          <a:p>
            <a:pPr marL="0" lvl="0" indent="0" algn="r" rtl="1">
              <a:lnSpc>
                <a:spcPts val="2413"/>
              </a:lnSpc>
            </a:pPr>
            <a:endParaRPr lang="en-GB" sz="3200" b="1" i="0" u="none" strike="noStrike" dirty="0">
              <a:solidFill>
                <a:schemeClr val="tx2">
                  <a:lumMod val="75000"/>
                </a:schemeClr>
              </a:solidFill>
              <a:effectLst/>
              <a:highlight>
                <a:srgbClr val="EEEEEE"/>
              </a:highlight>
              <a:latin typeface="Cairo"/>
            </a:endParaRPr>
          </a:p>
          <a:p>
            <a:pPr marL="0" lvl="0" indent="0" algn="r" rtl="1">
              <a:lnSpc>
                <a:spcPts val="2413"/>
              </a:lnSpc>
            </a:pPr>
            <a:r>
              <a:rPr lang="en-GB" sz="2400" b="1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Cairo"/>
              </a:rPr>
              <a:t> </a:t>
            </a:r>
            <a:r>
              <a:rPr lang="ar-EG" sz="2800" b="1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Cairo"/>
              </a:rPr>
              <a:t>نقوم بعمل جميع التصاميم الخارجيه والداخليه وتقسيم قطع الاراضي الفارغه وعمل التصميمات الداخليه كما يمكننا عمل اظهار معماري للرسومات بتقنيات ال</a:t>
            </a:r>
            <a:r>
              <a:rPr lang="en-GB" sz="2800" b="1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Cairo"/>
              </a:rPr>
              <a:t>3D </a:t>
            </a:r>
            <a:r>
              <a:rPr lang="ar-EG" sz="2800" b="1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Cairo"/>
              </a:rPr>
              <a:t>ومتقنين لبرامج ال </a:t>
            </a:r>
            <a:r>
              <a:rPr lang="en-GB" sz="2800" b="1" i="0" u="none" strike="noStrike" dirty="0">
                <a:solidFill>
                  <a:srgbClr val="FFC000"/>
                </a:solidFill>
                <a:effectLst/>
                <a:highlight>
                  <a:srgbClr val="EEEEEE"/>
                </a:highlight>
                <a:latin typeface="Cairo"/>
              </a:rPr>
              <a:t>Lumion &amp; 3DMax &amp; AutoCAD &amp; Revit &amp; Sketch up</a:t>
            </a:r>
            <a:endParaRPr lang="en-US" sz="2800" b="1" u="none" strike="noStrike" spc="-114" dirty="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" name="Picture 12" descr="A yellow z with lightning bolt in the middle&#10;&#10;Description automatically generated">
            <a:extLst>
              <a:ext uri="{FF2B5EF4-FFF2-40B4-BE49-F238E27FC236}">
                <a16:creationId xmlns:a16="http://schemas.microsoft.com/office/drawing/2014/main" id="{BE8F436C-F38D-615E-7568-601E70CD2B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4626" y="-190817"/>
            <a:ext cx="3273024" cy="2764409"/>
          </a:xfrm>
          <a:prstGeom prst="rect">
            <a:avLst/>
          </a:prstGeom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8B1E0297-8A5F-138D-66A1-36B7455B4CDC}"/>
              </a:ext>
            </a:extLst>
          </p:cNvPr>
          <p:cNvSpPr txBox="1"/>
          <p:nvPr/>
        </p:nvSpPr>
        <p:spPr>
          <a:xfrm>
            <a:off x="1255875" y="461241"/>
            <a:ext cx="8448264" cy="139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10924" b="1" dirty="0"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sz="10924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924" b="1" dirty="0">
                <a:solidFill>
                  <a:srgbClr val="FFC000"/>
                </a:solidFill>
                <a:latin typeface="Poppins Bold"/>
                <a:ea typeface="Poppins Bold"/>
                <a:cs typeface="Poppins Bold"/>
                <a:sym typeface="Poppins Bold"/>
              </a:rPr>
              <a:t>Zone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FBAEFDE-6B9A-4F2E-53C3-4F8071B3FB3E}"/>
              </a:ext>
            </a:extLst>
          </p:cNvPr>
          <p:cNvSpPr/>
          <p:nvPr/>
        </p:nvSpPr>
        <p:spPr>
          <a:xfrm>
            <a:off x="381000" y="8648700"/>
            <a:ext cx="3001761" cy="1031514"/>
          </a:xfrm>
          <a:custGeom>
            <a:avLst/>
            <a:gdLst/>
            <a:ahLst/>
            <a:cxnLst/>
            <a:rect l="l" t="t" r="r" b="b"/>
            <a:pathLst>
              <a:path w="3001761" h="1031514">
                <a:moveTo>
                  <a:pt x="0" y="0"/>
                </a:moveTo>
                <a:lnTo>
                  <a:pt x="3001761" y="0"/>
                </a:lnTo>
                <a:lnTo>
                  <a:pt x="3001761" y="1031514"/>
                </a:lnTo>
                <a:lnTo>
                  <a:pt x="0" y="1031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966751" y="2794163"/>
            <a:ext cx="4924952" cy="88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Meet Our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56938" y="2794163"/>
            <a:ext cx="3464311" cy="87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50"/>
              </a:lnSpc>
            </a:pPr>
            <a:r>
              <a:rPr lang="en-US" sz="6368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7607" y="7553869"/>
            <a:ext cx="3962400" cy="45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267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Mohamed </a:t>
            </a:r>
            <a:r>
              <a:rPr lang="en-US" sz="2677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Elashmawy</a:t>
            </a:r>
            <a:endParaRPr lang="en-US" sz="2677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966751" y="7624468"/>
            <a:ext cx="2501921" cy="45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267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Abdallah Adel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15751" y="7578440"/>
            <a:ext cx="3457922" cy="45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2677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Bassiony</a:t>
            </a:r>
            <a:r>
              <a:rPr lang="en-US" sz="267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Abdallah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62586" y="7592694"/>
            <a:ext cx="3123826" cy="45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2677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Hamdin</a:t>
            </a:r>
            <a:r>
              <a:rPr lang="en-US" sz="267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Gamal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257539" y="1028700"/>
            <a:ext cx="3001761" cy="1031514"/>
          </a:xfrm>
          <a:custGeom>
            <a:avLst/>
            <a:gdLst/>
            <a:ahLst/>
            <a:cxnLst/>
            <a:rect l="l" t="t" r="r" b="b"/>
            <a:pathLst>
              <a:path w="3001761" h="1031514">
                <a:moveTo>
                  <a:pt x="0" y="0"/>
                </a:moveTo>
                <a:lnTo>
                  <a:pt x="3001761" y="0"/>
                </a:lnTo>
                <a:lnTo>
                  <a:pt x="3001761" y="1031514"/>
                </a:lnTo>
                <a:lnTo>
                  <a:pt x="0" y="103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19" name="Picture 18" descr="A yellow z with lightning bolt in the middle&#10;&#10;Description automatically generated">
            <a:extLst>
              <a:ext uri="{FF2B5EF4-FFF2-40B4-BE49-F238E27FC236}">
                <a16:creationId xmlns:a16="http://schemas.microsoft.com/office/drawing/2014/main" id="{5164677F-1E4D-8DCF-B8D7-2D02862373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4626" y="-190817"/>
            <a:ext cx="3273024" cy="2764409"/>
          </a:xfrm>
          <a:prstGeom prst="rect">
            <a:avLst/>
          </a:prstGeom>
        </p:spPr>
      </p:pic>
      <p:sp>
        <p:nvSpPr>
          <p:cNvPr id="20" name="TextBox 12">
            <a:extLst>
              <a:ext uri="{FF2B5EF4-FFF2-40B4-BE49-F238E27FC236}">
                <a16:creationId xmlns:a16="http://schemas.microsoft.com/office/drawing/2014/main" id="{811F0EFF-3399-B96F-790B-A0C52B898F2C}"/>
              </a:ext>
            </a:extLst>
          </p:cNvPr>
          <p:cNvSpPr txBox="1"/>
          <p:nvPr/>
        </p:nvSpPr>
        <p:spPr>
          <a:xfrm>
            <a:off x="1255875" y="461241"/>
            <a:ext cx="8448264" cy="139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10924" b="1" dirty="0"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sz="10924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924" b="1" dirty="0">
                <a:solidFill>
                  <a:srgbClr val="E6AF00"/>
                </a:solidFill>
                <a:latin typeface="Poppins Bold"/>
                <a:ea typeface="Poppins Bold"/>
                <a:cs typeface="Poppins Bold"/>
                <a:sym typeface="Poppins Bold"/>
              </a:rPr>
              <a:t>Zone</a:t>
            </a:r>
          </a:p>
        </p:txBody>
      </p:sp>
      <p:pic>
        <p:nvPicPr>
          <p:cNvPr id="22" name="Picture 21" descr="A person in a black jacket&#10;&#10;Description automatically generated">
            <a:extLst>
              <a:ext uri="{FF2B5EF4-FFF2-40B4-BE49-F238E27FC236}">
                <a16:creationId xmlns:a16="http://schemas.microsoft.com/office/drawing/2014/main" id="{0E4E965B-EF68-07F5-C0C7-B52ECD9EBC2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4" t="11514" r="8935" b="20192"/>
          <a:stretch/>
        </p:blipFill>
        <p:spPr>
          <a:xfrm>
            <a:off x="1692655" y="3773752"/>
            <a:ext cx="3526579" cy="350608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4" name="Picture 23" descr="A person with his arms crossed&#10;&#10;Description automatically generated">
            <a:extLst>
              <a:ext uri="{FF2B5EF4-FFF2-40B4-BE49-F238E27FC236}">
                <a16:creationId xmlns:a16="http://schemas.microsoft.com/office/drawing/2014/main" id="{20BC8F29-41C1-827C-4DE7-E1BCEAE0D10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8" t="4128" r="9177" b="11845"/>
          <a:stretch/>
        </p:blipFill>
        <p:spPr>
          <a:xfrm>
            <a:off x="13164133" y="3772084"/>
            <a:ext cx="3422279" cy="350608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D1E6E8C-D6C1-EAD3-F0BF-382115323749}"/>
              </a:ext>
            </a:extLst>
          </p:cNvPr>
          <p:cNvSpPr txBox="1"/>
          <p:nvPr/>
        </p:nvSpPr>
        <p:spPr>
          <a:xfrm>
            <a:off x="1385872" y="8067946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E6AF00"/>
                </a:solidFill>
              </a:rPr>
              <a:t>Electrical Construction Engineer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624062-BD2F-4391-2045-6F3AD0F4BDEA}"/>
              </a:ext>
            </a:extLst>
          </p:cNvPr>
          <p:cNvSpPr txBox="1"/>
          <p:nvPr/>
        </p:nvSpPr>
        <p:spPr>
          <a:xfrm>
            <a:off x="5277696" y="8132932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E6AF00"/>
                </a:solidFill>
              </a:rPr>
              <a:t>Electrical Construction Engineer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43A3F-D1EB-1E8C-7EA2-315DB7977511}"/>
              </a:ext>
            </a:extLst>
          </p:cNvPr>
          <p:cNvSpPr txBox="1"/>
          <p:nvPr/>
        </p:nvSpPr>
        <p:spPr>
          <a:xfrm>
            <a:off x="5418896" y="9087039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2">
                    <a:lumMod val="50000"/>
                  </a:schemeClr>
                </a:solidFill>
              </a:rPr>
              <a:t>Leader of Electrical Team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667194-3B75-CE13-032E-8CF58AB232C9}"/>
              </a:ext>
            </a:extLst>
          </p:cNvPr>
          <p:cNvSpPr txBox="1"/>
          <p:nvPr/>
        </p:nvSpPr>
        <p:spPr>
          <a:xfrm>
            <a:off x="1255875" y="8974655"/>
            <a:ext cx="3733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2">
                    <a:lumMod val="50000"/>
                  </a:schemeClr>
                </a:solidFill>
              </a:rPr>
              <a:t>Manger of Out Zone &amp; Member Electrical Team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A4A7CE-738B-0FE8-F948-A090BC43F592}"/>
              </a:ext>
            </a:extLst>
          </p:cNvPr>
          <p:cNvSpPr txBox="1"/>
          <p:nvPr/>
        </p:nvSpPr>
        <p:spPr>
          <a:xfrm>
            <a:off x="13027696" y="8167286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E6AF00"/>
                </a:solidFill>
              </a:rPr>
              <a:t>Electrical Construction Engineer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C40F2C-3399-61DD-7C86-26C0998929CB}"/>
              </a:ext>
            </a:extLst>
          </p:cNvPr>
          <p:cNvSpPr txBox="1"/>
          <p:nvPr/>
        </p:nvSpPr>
        <p:spPr>
          <a:xfrm>
            <a:off x="13168896" y="8974654"/>
            <a:ext cx="38632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2">
                    <a:lumMod val="50000"/>
                  </a:schemeClr>
                </a:solidFill>
              </a:rPr>
              <a:t>Member Electrical Team &amp; Create Content Social Media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53B54D-8D0C-7AA2-851F-905D73A9ADA7}"/>
              </a:ext>
            </a:extLst>
          </p:cNvPr>
          <p:cNvSpPr txBox="1"/>
          <p:nvPr/>
        </p:nvSpPr>
        <p:spPr>
          <a:xfrm>
            <a:off x="9011496" y="8200018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E6AF00"/>
                </a:solidFill>
              </a:rPr>
              <a:t>Electrical Construction Engineer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BBF8C3-8B3C-C176-2772-CF14DACA1820}"/>
              </a:ext>
            </a:extLst>
          </p:cNvPr>
          <p:cNvSpPr txBox="1"/>
          <p:nvPr/>
        </p:nvSpPr>
        <p:spPr>
          <a:xfrm>
            <a:off x="8981713" y="9149293"/>
            <a:ext cx="3915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2">
                    <a:lumMod val="50000"/>
                  </a:schemeClr>
                </a:solidFill>
              </a:rPr>
              <a:t>Member Electrical Team &amp; Content Creator</a:t>
            </a:r>
          </a:p>
        </p:txBody>
      </p:sp>
      <p:pic>
        <p:nvPicPr>
          <p:cNvPr id="35" name="Picture 34" descr="A person in a suit&#10;&#10;Description automatically generated">
            <a:extLst>
              <a:ext uri="{FF2B5EF4-FFF2-40B4-BE49-F238E27FC236}">
                <a16:creationId xmlns:a16="http://schemas.microsoft.com/office/drawing/2014/main" id="{4EC6DA2F-C84C-A32F-768D-E2CA17E874C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5" t="24997" r="17139"/>
          <a:stretch/>
        </p:blipFill>
        <p:spPr>
          <a:xfrm>
            <a:off x="5484917" y="3777947"/>
            <a:ext cx="3526579" cy="350608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7" name="Picture 36" descr="A person in a black shirt&#10;&#10;Description automatically generated">
            <a:extLst>
              <a:ext uri="{FF2B5EF4-FFF2-40B4-BE49-F238E27FC236}">
                <a16:creationId xmlns:a16="http://schemas.microsoft.com/office/drawing/2014/main" id="{0927C6C9-6F17-6560-6DA2-D6786C4A1344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9" r="8944" b="18400"/>
          <a:stretch/>
        </p:blipFill>
        <p:spPr>
          <a:xfrm>
            <a:off x="9355659" y="3772084"/>
            <a:ext cx="3464311" cy="34969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2" grpId="0"/>
      <p:bldP spid="14" grpId="0"/>
      <p:bldP spid="16" grpId="0"/>
      <p:bldP spid="25" grpId="0"/>
      <p:bldP spid="26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966751" y="2794163"/>
            <a:ext cx="4924952" cy="88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Meet Our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56938" y="2794163"/>
            <a:ext cx="3464311" cy="87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50"/>
              </a:lnSpc>
            </a:pPr>
            <a:r>
              <a:rPr lang="en-US" sz="6368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48344" y="7695776"/>
            <a:ext cx="3962400" cy="45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267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Mohamed </a:t>
            </a:r>
            <a:r>
              <a:rPr lang="en-US" sz="2677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Abdelall</a:t>
            </a:r>
            <a:endParaRPr lang="en-US" sz="2677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724356" y="7695776"/>
            <a:ext cx="2501921" cy="45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267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Ibrahim Rady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10695" y="7637890"/>
            <a:ext cx="3457922" cy="45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2677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Rahma</a:t>
            </a:r>
            <a:r>
              <a:rPr lang="en-US" sz="2677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Tamer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257539" y="1028700"/>
            <a:ext cx="3001761" cy="1031514"/>
          </a:xfrm>
          <a:custGeom>
            <a:avLst/>
            <a:gdLst/>
            <a:ahLst/>
            <a:cxnLst/>
            <a:rect l="l" t="t" r="r" b="b"/>
            <a:pathLst>
              <a:path w="3001761" h="1031514">
                <a:moveTo>
                  <a:pt x="0" y="0"/>
                </a:moveTo>
                <a:lnTo>
                  <a:pt x="3001761" y="0"/>
                </a:lnTo>
                <a:lnTo>
                  <a:pt x="3001761" y="1031514"/>
                </a:lnTo>
                <a:lnTo>
                  <a:pt x="0" y="103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269C9-4923-5D0C-0CA2-1CACF40C4F63}"/>
              </a:ext>
            </a:extLst>
          </p:cNvPr>
          <p:cNvSpPr txBox="1"/>
          <p:nvPr/>
        </p:nvSpPr>
        <p:spPr>
          <a:xfrm>
            <a:off x="3810000" y="8108257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E6AF00"/>
                </a:solidFill>
              </a:rPr>
              <a:t>Electrical Construction Engineer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EA745-A2CB-A588-61B7-A16855F7988A}"/>
              </a:ext>
            </a:extLst>
          </p:cNvPr>
          <p:cNvSpPr txBox="1"/>
          <p:nvPr/>
        </p:nvSpPr>
        <p:spPr>
          <a:xfrm>
            <a:off x="3628632" y="9021805"/>
            <a:ext cx="4401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2">
                    <a:lumMod val="50000"/>
                  </a:schemeClr>
                </a:solidFill>
              </a:rPr>
              <a:t>Member Electrical Team</a:t>
            </a:r>
            <a:r>
              <a:rPr lang="ar-EG" sz="2800" b="1" dirty="0">
                <a:solidFill>
                  <a:schemeClr val="bg2">
                    <a:lumMod val="50000"/>
                  </a:schemeClr>
                </a:solidFill>
              </a:rPr>
              <a:t>&amp;</a:t>
            </a:r>
          </a:p>
          <a:p>
            <a:pPr algn="ctr"/>
            <a:r>
              <a:rPr lang="en-GB" sz="2800" b="1" dirty="0">
                <a:solidFill>
                  <a:schemeClr val="bg2">
                    <a:lumMod val="50000"/>
                  </a:schemeClr>
                </a:solidFill>
              </a:rPr>
              <a:t>Create Content White 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37F34-0692-5DBB-254E-76963A8ABD44}"/>
              </a:ext>
            </a:extLst>
          </p:cNvPr>
          <p:cNvSpPr txBox="1"/>
          <p:nvPr/>
        </p:nvSpPr>
        <p:spPr>
          <a:xfrm>
            <a:off x="8115895" y="8147758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E6AF00"/>
                </a:solidFill>
              </a:rPr>
              <a:t>Architectural Design Engineer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9775AA-C62E-7923-D44C-C2AC6BEB92FB}"/>
              </a:ext>
            </a:extLst>
          </p:cNvPr>
          <p:cNvSpPr txBox="1"/>
          <p:nvPr/>
        </p:nvSpPr>
        <p:spPr>
          <a:xfrm>
            <a:off x="12634817" y="8147758"/>
            <a:ext cx="373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E6AF00"/>
                </a:solidFill>
              </a:rPr>
              <a:t>Architectural Design Engineer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7D14A07-8934-2147-6B52-6C4ACFC031E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0" r="18018"/>
          <a:stretch/>
        </p:blipFill>
        <p:spPr>
          <a:xfrm>
            <a:off x="4038599" y="3924301"/>
            <a:ext cx="3433807" cy="35259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8" name="Picture 27" descr="A person standing in front of a couch&#10;&#10;Description automatically generated">
            <a:extLst>
              <a:ext uri="{FF2B5EF4-FFF2-40B4-BE49-F238E27FC236}">
                <a16:creationId xmlns:a16="http://schemas.microsoft.com/office/drawing/2014/main" id="{2BC1B8A2-85BA-F943-A37C-90A55DC1B0B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71" r="31220" b="19010"/>
          <a:stretch/>
        </p:blipFill>
        <p:spPr>
          <a:xfrm>
            <a:off x="8293871" y="3924302"/>
            <a:ext cx="3433807" cy="352698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0" name="Picture 29" descr="A person wearing a black scarf&#10;&#10;Description automatically generated">
            <a:extLst>
              <a:ext uri="{FF2B5EF4-FFF2-40B4-BE49-F238E27FC236}">
                <a16:creationId xmlns:a16="http://schemas.microsoft.com/office/drawing/2014/main" id="{062767CE-18EC-4172-6AC1-A4E172A3050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00" y="3924301"/>
            <a:ext cx="3464311" cy="35259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 descr="A yellow z with lightning bolt in the middle&#10;&#10;Description automatically generated">
            <a:extLst>
              <a:ext uri="{FF2B5EF4-FFF2-40B4-BE49-F238E27FC236}">
                <a16:creationId xmlns:a16="http://schemas.microsoft.com/office/drawing/2014/main" id="{8E866813-118D-715E-BAF5-DC5A0756656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4626" y="-190817"/>
            <a:ext cx="3273024" cy="2764409"/>
          </a:xfrm>
          <a:prstGeom prst="rect">
            <a:avLst/>
          </a:prstGeom>
        </p:spPr>
      </p:pic>
      <p:sp>
        <p:nvSpPr>
          <p:cNvPr id="8" name="TextBox 12">
            <a:extLst>
              <a:ext uri="{FF2B5EF4-FFF2-40B4-BE49-F238E27FC236}">
                <a16:creationId xmlns:a16="http://schemas.microsoft.com/office/drawing/2014/main" id="{3D8988F9-D242-4773-A117-4918D92CC0AF}"/>
              </a:ext>
            </a:extLst>
          </p:cNvPr>
          <p:cNvSpPr txBox="1"/>
          <p:nvPr/>
        </p:nvSpPr>
        <p:spPr>
          <a:xfrm>
            <a:off x="1255875" y="461241"/>
            <a:ext cx="8448264" cy="139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10924" b="1" dirty="0"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sz="10924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924" b="1" dirty="0">
                <a:solidFill>
                  <a:srgbClr val="E6AF00"/>
                </a:solidFill>
                <a:latin typeface="Poppins Bold"/>
                <a:ea typeface="Poppins Bold"/>
                <a:cs typeface="Poppins Bold"/>
                <a:sym typeface="Poppins Bold"/>
              </a:rPr>
              <a:t>Zone</a:t>
            </a:r>
          </a:p>
        </p:txBody>
      </p:sp>
    </p:spTree>
    <p:extLst>
      <p:ext uri="{BB962C8B-B14F-4D97-AF65-F5344CB8AC3E}">
        <p14:creationId xmlns:p14="http://schemas.microsoft.com/office/powerpoint/2010/main" val="109903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2" grpId="0"/>
      <p:bldP spid="3" grpId="0"/>
      <p:bldP spid="5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5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Freeform 4"/>
          <p:cNvSpPr/>
          <p:nvPr/>
        </p:nvSpPr>
        <p:spPr>
          <a:xfrm>
            <a:off x="11789854" y="8467599"/>
            <a:ext cx="4550797" cy="790701"/>
          </a:xfrm>
          <a:custGeom>
            <a:avLst/>
            <a:gdLst/>
            <a:ahLst/>
            <a:cxnLst/>
            <a:rect l="l" t="t" r="r" b="b"/>
            <a:pathLst>
              <a:path w="4550797" h="790701">
                <a:moveTo>
                  <a:pt x="0" y="0"/>
                </a:moveTo>
                <a:lnTo>
                  <a:pt x="4550798" y="0"/>
                </a:lnTo>
                <a:lnTo>
                  <a:pt x="4550798" y="790701"/>
                </a:lnTo>
                <a:lnTo>
                  <a:pt x="0" y="790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1820468" y="3749230"/>
            <a:ext cx="4548758" cy="5152416"/>
            <a:chOff x="0" y="0"/>
            <a:chExt cx="1198027" cy="1357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8027" cy="1357015"/>
            </a:xfrm>
            <a:custGeom>
              <a:avLst/>
              <a:gdLst/>
              <a:ahLst/>
              <a:cxnLst/>
              <a:rect l="l" t="t" r="r" b="b"/>
              <a:pathLst>
                <a:path w="1198027" h="1357015">
                  <a:moveTo>
                    <a:pt x="86801" y="0"/>
                  </a:moveTo>
                  <a:lnTo>
                    <a:pt x="1111226" y="0"/>
                  </a:lnTo>
                  <a:cubicBezTo>
                    <a:pt x="1134247" y="0"/>
                    <a:pt x="1156325" y="9145"/>
                    <a:pt x="1172603" y="25423"/>
                  </a:cubicBezTo>
                  <a:cubicBezTo>
                    <a:pt x="1188882" y="41702"/>
                    <a:pt x="1198027" y="63780"/>
                    <a:pt x="1198027" y="86801"/>
                  </a:cubicBezTo>
                  <a:lnTo>
                    <a:pt x="1198027" y="1270214"/>
                  </a:lnTo>
                  <a:cubicBezTo>
                    <a:pt x="1198027" y="1318153"/>
                    <a:pt x="1159165" y="1357015"/>
                    <a:pt x="1111226" y="1357015"/>
                  </a:cubicBezTo>
                  <a:lnTo>
                    <a:pt x="86801" y="1357015"/>
                  </a:lnTo>
                  <a:cubicBezTo>
                    <a:pt x="38862" y="1357015"/>
                    <a:pt x="0" y="1318153"/>
                    <a:pt x="0" y="1270214"/>
                  </a:cubicBezTo>
                  <a:lnTo>
                    <a:pt x="0" y="86801"/>
                  </a:lnTo>
                  <a:cubicBezTo>
                    <a:pt x="0" y="38862"/>
                    <a:pt x="38862" y="0"/>
                    <a:pt x="86801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98027" cy="1404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918773" y="8438649"/>
            <a:ext cx="4550797" cy="790701"/>
          </a:xfrm>
          <a:custGeom>
            <a:avLst/>
            <a:gdLst/>
            <a:ahLst/>
            <a:cxnLst/>
            <a:rect l="l" t="t" r="r" b="b"/>
            <a:pathLst>
              <a:path w="4550797" h="790701">
                <a:moveTo>
                  <a:pt x="0" y="0"/>
                </a:moveTo>
                <a:lnTo>
                  <a:pt x="4550798" y="0"/>
                </a:lnTo>
                <a:lnTo>
                  <a:pt x="4550798" y="790701"/>
                </a:lnTo>
                <a:lnTo>
                  <a:pt x="0" y="790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1918773" y="3749230"/>
            <a:ext cx="4548758" cy="5152416"/>
            <a:chOff x="0" y="0"/>
            <a:chExt cx="1198027" cy="13570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8027" cy="1357015"/>
            </a:xfrm>
            <a:custGeom>
              <a:avLst/>
              <a:gdLst/>
              <a:ahLst/>
              <a:cxnLst/>
              <a:rect l="l" t="t" r="r" b="b"/>
              <a:pathLst>
                <a:path w="1198027" h="1357015">
                  <a:moveTo>
                    <a:pt x="86801" y="0"/>
                  </a:moveTo>
                  <a:lnTo>
                    <a:pt x="1111226" y="0"/>
                  </a:lnTo>
                  <a:cubicBezTo>
                    <a:pt x="1134247" y="0"/>
                    <a:pt x="1156325" y="9145"/>
                    <a:pt x="1172603" y="25423"/>
                  </a:cubicBezTo>
                  <a:cubicBezTo>
                    <a:pt x="1188882" y="41702"/>
                    <a:pt x="1198027" y="63780"/>
                    <a:pt x="1198027" y="86801"/>
                  </a:cubicBezTo>
                  <a:lnTo>
                    <a:pt x="1198027" y="1270214"/>
                  </a:lnTo>
                  <a:cubicBezTo>
                    <a:pt x="1198027" y="1318153"/>
                    <a:pt x="1159165" y="1357015"/>
                    <a:pt x="1111226" y="1357015"/>
                  </a:cubicBezTo>
                  <a:lnTo>
                    <a:pt x="86801" y="1357015"/>
                  </a:lnTo>
                  <a:cubicBezTo>
                    <a:pt x="38862" y="1357015"/>
                    <a:pt x="0" y="1318153"/>
                    <a:pt x="0" y="1270214"/>
                  </a:cubicBezTo>
                  <a:lnTo>
                    <a:pt x="0" y="86801"/>
                  </a:lnTo>
                  <a:cubicBezTo>
                    <a:pt x="0" y="38862"/>
                    <a:pt x="38862" y="0"/>
                    <a:pt x="86801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98027" cy="1404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837122" y="8467599"/>
            <a:ext cx="4550797" cy="790701"/>
          </a:xfrm>
          <a:custGeom>
            <a:avLst/>
            <a:gdLst/>
            <a:ahLst/>
            <a:cxnLst/>
            <a:rect l="l" t="t" r="r" b="b"/>
            <a:pathLst>
              <a:path w="4550797" h="790701">
                <a:moveTo>
                  <a:pt x="0" y="0"/>
                </a:moveTo>
                <a:lnTo>
                  <a:pt x="4550797" y="0"/>
                </a:lnTo>
                <a:lnTo>
                  <a:pt x="4550797" y="790701"/>
                </a:lnTo>
                <a:lnTo>
                  <a:pt x="0" y="790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6869621" y="3749230"/>
            <a:ext cx="4548758" cy="5152416"/>
            <a:chOff x="0" y="0"/>
            <a:chExt cx="1198027" cy="13570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98027" cy="1357015"/>
            </a:xfrm>
            <a:custGeom>
              <a:avLst/>
              <a:gdLst/>
              <a:ahLst/>
              <a:cxnLst/>
              <a:rect l="l" t="t" r="r" b="b"/>
              <a:pathLst>
                <a:path w="1198027" h="1357015">
                  <a:moveTo>
                    <a:pt x="86801" y="0"/>
                  </a:moveTo>
                  <a:lnTo>
                    <a:pt x="1111226" y="0"/>
                  </a:lnTo>
                  <a:cubicBezTo>
                    <a:pt x="1134247" y="0"/>
                    <a:pt x="1156325" y="9145"/>
                    <a:pt x="1172603" y="25423"/>
                  </a:cubicBezTo>
                  <a:cubicBezTo>
                    <a:pt x="1188882" y="41702"/>
                    <a:pt x="1198027" y="63780"/>
                    <a:pt x="1198027" y="86801"/>
                  </a:cubicBezTo>
                  <a:lnTo>
                    <a:pt x="1198027" y="1270214"/>
                  </a:lnTo>
                  <a:cubicBezTo>
                    <a:pt x="1198027" y="1318153"/>
                    <a:pt x="1159165" y="1357015"/>
                    <a:pt x="1111226" y="1357015"/>
                  </a:cubicBezTo>
                  <a:lnTo>
                    <a:pt x="86801" y="1357015"/>
                  </a:lnTo>
                  <a:cubicBezTo>
                    <a:pt x="38862" y="1357015"/>
                    <a:pt x="0" y="1318153"/>
                    <a:pt x="0" y="1270214"/>
                  </a:cubicBezTo>
                  <a:lnTo>
                    <a:pt x="0" y="86801"/>
                  </a:lnTo>
                  <a:cubicBezTo>
                    <a:pt x="0" y="38862"/>
                    <a:pt x="38862" y="0"/>
                    <a:pt x="86801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198027" cy="1404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837122" y="2330512"/>
            <a:ext cx="2462476" cy="88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90393" y="2363514"/>
            <a:ext cx="4054133" cy="815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50"/>
              </a:lnSpc>
            </a:pPr>
            <a:r>
              <a:rPr lang="en-US" sz="6368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78590" y="4020334"/>
            <a:ext cx="3861087" cy="340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96"/>
              </a:lnSpc>
            </a:pPr>
            <a:r>
              <a:rPr lang="en-US" sz="2800" b="1" spc="53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Drawing</a:t>
            </a:r>
          </a:p>
        </p:txBody>
      </p:sp>
      <p:sp>
        <p:nvSpPr>
          <p:cNvPr id="28" name="Freeform 28"/>
          <p:cNvSpPr/>
          <p:nvPr/>
        </p:nvSpPr>
        <p:spPr>
          <a:xfrm>
            <a:off x="14767788" y="546323"/>
            <a:ext cx="3001761" cy="1031514"/>
          </a:xfrm>
          <a:custGeom>
            <a:avLst/>
            <a:gdLst/>
            <a:ahLst/>
            <a:cxnLst/>
            <a:rect l="l" t="t" r="r" b="b"/>
            <a:pathLst>
              <a:path w="3001761" h="1031514">
                <a:moveTo>
                  <a:pt x="0" y="0"/>
                </a:moveTo>
                <a:lnTo>
                  <a:pt x="3001761" y="0"/>
                </a:lnTo>
                <a:lnTo>
                  <a:pt x="3001761" y="1031514"/>
                </a:lnTo>
                <a:lnTo>
                  <a:pt x="0" y="103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C825D05-8D67-9EE5-09C3-A7035063347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1967"/>
          <a:stretch/>
        </p:blipFill>
        <p:spPr>
          <a:xfrm>
            <a:off x="11837674" y="4650801"/>
            <a:ext cx="4581409" cy="24254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8DACFB6-F86F-F47E-7030-202B3B9A1AC7}"/>
              </a:ext>
            </a:extLst>
          </p:cNvPr>
          <p:cNvSpPr txBox="1"/>
          <p:nvPr/>
        </p:nvSpPr>
        <p:spPr>
          <a:xfrm>
            <a:off x="11921024" y="7171681"/>
            <a:ext cx="43476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800" b="1" dirty="0">
                <a:solidFill>
                  <a:schemeClr val="bg1"/>
                </a:solidFill>
              </a:rPr>
              <a:t>هو عبارة عن عمل رسومات تصميمية لانظمة الكهرباء المختلفة من انظمة جهد منخفض وانظمة تيار خفيف</a:t>
            </a:r>
            <a:endParaRPr lang="en-GB" sz="2800" b="1" dirty="0">
              <a:solidFill>
                <a:schemeClr val="bg1"/>
              </a:solidFill>
            </a:endParaRPr>
          </a:p>
        </p:txBody>
      </p:sp>
      <p:pic>
        <p:nvPicPr>
          <p:cNvPr id="37" name="Picture 36" descr="A light bulb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1C489481-1F95-BE4A-369B-DAD6FF3F80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050" y="4615980"/>
            <a:ext cx="4496329" cy="24234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8" name="TextBox 27">
            <a:extLst>
              <a:ext uri="{FF2B5EF4-FFF2-40B4-BE49-F238E27FC236}">
                <a16:creationId xmlns:a16="http://schemas.microsoft.com/office/drawing/2014/main" id="{F5E2C703-7167-6F23-4DAF-74F84FE700D1}"/>
              </a:ext>
            </a:extLst>
          </p:cNvPr>
          <p:cNvSpPr txBox="1"/>
          <p:nvPr/>
        </p:nvSpPr>
        <p:spPr>
          <a:xfrm>
            <a:off x="7209209" y="3980381"/>
            <a:ext cx="3861087" cy="355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96"/>
              </a:lnSpc>
            </a:pPr>
            <a:r>
              <a:rPr lang="en-GB" sz="3200" b="1" spc="53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Shop</a:t>
            </a:r>
            <a:r>
              <a:rPr lang="en-US" sz="2800" b="1" spc="53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Drawing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8093BB-FA8F-05F6-8B96-CBF2C6B701B0}"/>
              </a:ext>
            </a:extLst>
          </p:cNvPr>
          <p:cNvSpPr txBox="1"/>
          <p:nvPr/>
        </p:nvSpPr>
        <p:spPr>
          <a:xfrm>
            <a:off x="7040274" y="7078971"/>
            <a:ext cx="43476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800" b="1" dirty="0">
                <a:solidFill>
                  <a:schemeClr val="bg1"/>
                </a:solidFill>
              </a:rPr>
              <a:t>هو عبارة عن عمل رسومات تنفيذية لكل الانظمة التي تم عمل رسومات تصميمية لها  وتجهيزها للتنفيذ وطباعة اللوح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40" name="TextBox 27">
            <a:extLst>
              <a:ext uri="{FF2B5EF4-FFF2-40B4-BE49-F238E27FC236}">
                <a16:creationId xmlns:a16="http://schemas.microsoft.com/office/drawing/2014/main" id="{5ED5C3B1-5BD0-AB54-4349-875C5077E92B}"/>
              </a:ext>
            </a:extLst>
          </p:cNvPr>
          <p:cNvSpPr txBox="1"/>
          <p:nvPr/>
        </p:nvSpPr>
        <p:spPr>
          <a:xfrm>
            <a:off x="1587497" y="4023474"/>
            <a:ext cx="4994811" cy="355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96"/>
              </a:lnSpc>
            </a:pPr>
            <a:r>
              <a:rPr lang="en-GB" sz="3200" b="1" spc="53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Calculation</a:t>
            </a:r>
            <a:endParaRPr lang="en-US" sz="3200" b="1" spc="53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C95E99-57FD-8EB7-98BB-EADB714A3315}"/>
              </a:ext>
            </a:extLst>
          </p:cNvPr>
          <p:cNvSpPr txBox="1"/>
          <p:nvPr/>
        </p:nvSpPr>
        <p:spPr>
          <a:xfrm>
            <a:off x="2110628" y="7178508"/>
            <a:ext cx="43476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800" b="1" dirty="0">
                <a:solidFill>
                  <a:schemeClr val="bg1"/>
                </a:solidFill>
              </a:rPr>
              <a:t>يتم في هذه المرحلة الحسابات اللازمة لاتمام عملية التصميم والتنفيذ</a:t>
            </a:r>
            <a:endParaRPr lang="en-GB" sz="2800" b="1" dirty="0">
              <a:solidFill>
                <a:schemeClr val="bg1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47206B2-9F99-B0FE-421D-F4EB2CF4E8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0469" y="4650801"/>
            <a:ext cx="4564603" cy="22348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EAC8CEA-224D-18DC-38B9-008968D5AD44}"/>
              </a:ext>
            </a:extLst>
          </p:cNvPr>
          <p:cNvSpPr txBox="1"/>
          <p:nvPr/>
        </p:nvSpPr>
        <p:spPr>
          <a:xfrm>
            <a:off x="15257244" y="306458"/>
            <a:ext cx="23236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Electrical </a:t>
            </a:r>
          </a:p>
          <a:p>
            <a:r>
              <a:rPr lang="en-GB" sz="4400" b="1" dirty="0">
                <a:solidFill>
                  <a:srgbClr val="E6AF00"/>
                </a:solidFill>
              </a:rPr>
              <a:t>Team</a:t>
            </a:r>
          </a:p>
        </p:txBody>
      </p:sp>
      <p:pic>
        <p:nvPicPr>
          <p:cNvPr id="45" name="Picture 44" descr="A yellow z with lightning bolt in the middle&#10;&#10;Description automatically generated">
            <a:extLst>
              <a:ext uri="{FF2B5EF4-FFF2-40B4-BE49-F238E27FC236}">
                <a16:creationId xmlns:a16="http://schemas.microsoft.com/office/drawing/2014/main" id="{59BEEB1D-D359-30D7-6CCE-B597B646AB8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4626" y="-190817"/>
            <a:ext cx="3273024" cy="2764409"/>
          </a:xfrm>
          <a:prstGeom prst="rect">
            <a:avLst/>
          </a:prstGeom>
        </p:spPr>
      </p:pic>
      <p:sp>
        <p:nvSpPr>
          <p:cNvPr id="46" name="TextBox 12">
            <a:extLst>
              <a:ext uri="{FF2B5EF4-FFF2-40B4-BE49-F238E27FC236}">
                <a16:creationId xmlns:a16="http://schemas.microsoft.com/office/drawing/2014/main" id="{879D9AC0-5436-409A-2947-18364F241219}"/>
              </a:ext>
            </a:extLst>
          </p:cNvPr>
          <p:cNvSpPr txBox="1"/>
          <p:nvPr/>
        </p:nvSpPr>
        <p:spPr>
          <a:xfrm>
            <a:off x="1255875" y="461241"/>
            <a:ext cx="8448264" cy="139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10924" b="1" dirty="0"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sz="10924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924" b="1" dirty="0">
                <a:solidFill>
                  <a:srgbClr val="E6AF00"/>
                </a:solidFill>
                <a:latin typeface="Poppins Bold"/>
                <a:ea typeface="Poppins Bold"/>
                <a:cs typeface="Poppins Bold"/>
                <a:sym typeface="Poppins Bold"/>
              </a:rPr>
              <a:t>Zone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7" grpId="0"/>
      <p:bldP spid="35" grpId="0"/>
      <p:bldP spid="38" grpId="0"/>
      <p:bldP spid="39" grpId="0"/>
      <p:bldP spid="40" grpId="0"/>
      <p:bldP spid="41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48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Freeform 4"/>
          <p:cNvSpPr/>
          <p:nvPr/>
        </p:nvSpPr>
        <p:spPr>
          <a:xfrm>
            <a:off x="11789854" y="8467599"/>
            <a:ext cx="4550797" cy="790701"/>
          </a:xfrm>
          <a:custGeom>
            <a:avLst/>
            <a:gdLst/>
            <a:ahLst/>
            <a:cxnLst/>
            <a:rect l="l" t="t" r="r" b="b"/>
            <a:pathLst>
              <a:path w="4550797" h="790701">
                <a:moveTo>
                  <a:pt x="0" y="0"/>
                </a:moveTo>
                <a:lnTo>
                  <a:pt x="4550798" y="0"/>
                </a:lnTo>
                <a:lnTo>
                  <a:pt x="4550798" y="790701"/>
                </a:lnTo>
                <a:lnTo>
                  <a:pt x="0" y="790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1820468" y="3749230"/>
            <a:ext cx="4548758" cy="5152416"/>
            <a:chOff x="0" y="0"/>
            <a:chExt cx="1198027" cy="1357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8027" cy="1357015"/>
            </a:xfrm>
            <a:custGeom>
              <a:avLst/>
              <a:gdLst/>
              <a:ahLst/>
              <a:cxnLst/>
              <a:rect l="l" t="t" r="r" b="b"/>
              <a:pathLst>
                <a:path w="1198027" h="1357015">
                  <a:moveTo>
                    <a:pt x="86801" y="0"/>
                  </a:moveTo>
                  <a:lnTo>
                    <a:pt x="1111226" y="0"/>
                  </a:lnTo>
                  <a:cubicBezTo>
                    <a:pt x="1134247" y="0"/>
                    <a:pt x="1156325" y="9145"/>
                    <a:pt x="1172603" y="25423"/>
                  </a:cubicBezTo>
                  <a:cubicBezTo>
                    <a:pt x="1188882" y="41702"/>
                    <a:pt x="1198027" y="63780"/>
                    <a:pt x="1198027" y="86801"/>
                  </a:cubicBezTo>
                  <a:lnTo>
                    <a:pt x="1198027" y="1270214"/>
                  </a:lnTo>
                  <a:cubicBezTo>
                    <a:pt x="1198027" y="1318153"/>
                    <a:pt x="1159165" y="1357015"/>
                    <a:pt x="1111226" y="1357015"/>
                  </a:cubicBezTo>
                  <a:lnTo>
                    <a:pt x="86801" y="1357015"/>
                  </a:lnTo>
                  <a:cubicBezTo>
                    <a:pt x="38862" y="1357015"/>
                    <a:pt x="0" y="1318153"/>
                    <a:pt x="0" y="1270214"/>
                  </a:cubicBezTo>
                  <a:lnTo>
                    <a:pt x="0" y="86801"/>
                  </a:lnTo>
                  <a:cubicBezTo>
                    <a:pt x="0" y="38862"/>
                    <a:pt x="38862" y="0"/>
                    <a:pt x="86801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98027" cy="1404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918773" y="8438649"/>
            <a:ext cx="4550797" cy="790701"/>
          </a:xfrm>
          <a:custGeom>
            <a:avLst/>
            <a:gdLst/>
            <a:ahLst/>
            <a:cxnLst/>
            <a:rect l="l" t="t" r="r" b="b"/>
            <a:pathLst>
              <a:path w="4550797" h="790701">
                <a:moveTo>
                  <a:pt x="0" y="0"/>
                </a:moveTo>
                <a:lnTo>
                  <a:pt x="4550798" y="0"/>
                </a:lnTo>
                <a:lnTo>
                  <a:pt x="4550798" y="790701"/>
                </a:lnTo>
                <a:lnTo>
                  <a:pt x="0" y="790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1918773" y="3749230"/>
            <a:ext cx="4548758" cy="5152416"/>
            <a:chOff x="0" y="0"/>
            <a:chExt cx="1198027" cy="13570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8027" cy="1357015"/>
            </a:xfrm>
            <a:custGeom>
              <a:avLst/>
              <a:gdLst/>
              <a:ahLst/>
              <a:cxnLst/>
              <a:rect l="l" t="t" r="r" b="b"/>
              <a:pathLst>
                <a:path w="1198027" h="1357015">
                  <a:moveTo>
                    <a:pt x="86801" y="0"/>
                  </a:moveTo>
                  <a:lnTo>
                    <a:pt x="1111226" y="0"/>
                  </a:lnTo>
                  <a:cubicBezTo>
                    <a:pt x="1134247" y="0"/>
                    <a:pt x="1156325" y="9145"/>
                    <a:pt x="1172603" y="25423"/>
                  </a:cubicBezTo>
                  <a:cubicBezTo>
                    <a:pt x="1188882" y="41702"/>
                    <a:pt x="1198027" y="63780"/>
                    <a:pt x="1198027" y="86801"/>
                  </a:cubicBezTo>
                  <a:lnTo>
                    <a:pt x="1198027" y="1270214"/>
                  </a:lnTo>
                  <a:cubicBezTo>
                    <a:pt x="1198027" y="1318153"/>
                    <a:pt x="1159165" y="1357015"/>
                    <a:pt x="1111226" y="1357015"/>
                  </a:cubicBezTo>
                  <a:lnTo>
                    <a:pt x="86801" y="1357015"/>
                  </a:lnTo>
                  <a:cubicBezTo>
                    <a:pt x="38862" y="1357015"/>
                    <a:pt x="0" y="1318153"/>
                    <a:pt x="0" y="1270214"/>
                  </a:cubicBezTo>
                  <a:lnTo>
                    <a:pt x="0" y="86801"/>
                  </a:lnTo>
                  <a:cubicBezTo>
                    <a:pt x="0" y="38862"/>
                    <a:pt x="38862" y="0"/>
                    <a:pt x="86801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98027" cy="1404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837122" y="8467599"/>
            <a:ext cx="4550797" cy="790701"/>
          </a:xfrm>
          <a:custGeom>
            <a:avLst/>
            <a:gdLst/>
            <a:ahLst/>
            <a:cxnLst/>
            <a:rect l="l" t="t" r="r" b="b"/>
            <a:pathLst>
              <a:path w="4550797" h="790701">
                <a:moveTo>
                  <a:pt x="0" y="0"/>
                </a:moveTo>
                <a:lnTo>
                  <a:pt x="4550797" y="0"/>
                </a:lnTo>
                <a:lnTo>
                  <a:pt x="4550797" y="790701"/>
                </a:lnTo>
                <a:lnTo>
                  <a:pt x="0" y="790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6869621" y="3749230"/>
            <a:ext cx="4548758" cy="5152416"/>
            <a:chOff x="0" y="0"/>
            <a:chExt cx="1198027" cy="13570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98027" cy="1357015"/>
            </a:xfrm>
            <a:custGeom>
              <a:avLst/>
              <a:gdLst/>
              <a:ahLst/>
              <a:cxnLst/>
              <a:rect l="l" t="t" r="r" b="b"/>
              <a:pathLst>
                <a:path w="1198027" h="1357015">
                  <a:moveTo>
                    <a:pt x="86801" y="0"/>
                  </a:moveTo>
                  <a:lnTo>
                    <a:pt x="1111226" y="0"/>
                  </a:lnTo>
                  <a:cubicBezTo>
                    <a:pt x="1134247" y="0"/>
                    <a:pt x="1156325" y="9145"/>
                    <a:pt x="1172603" y="25423"/>
                  </a:cubicBezTo>
                  <a:cubicBezTo>
                    <a:pt x="1188882" y="41702"/>
                    <a:pt x="1198027" y="63780"/>
                    <a:pt x="1198027" y="86801"/>
                  </a:cubicBezTo>
                  <a:lnTo>
                    <a:pt x="1198027" y="1270214"/>
                  </a:lnTo>
                  <a:cubicBezTo>
                    <a:pt x="1198027" y="1318153"/>
                    <a:pt x="1159165" y="1357015"/>
                    <a:pt x="1111226" y="1357015"/>
                  </a:cubicBezTo>
                  <a:lnTo>
                    <a:pt x="86801" y="1357015"/>
                  </a:lnTo>
                  <a:cubicBezTo>
                    <a:pt x="38862" y="1357015"/>
                    <a:pt x="0" y="1318153"/>
                    <a:pt x="0" y="1270214"/>
                  </a:cubicBezTo>
                  <a:lnTo>
                    <a:pt x="0" y="86801"/>
                  </a:lnTo>
                  <a:cubicBezTo>
                    <a:pt x="0" y="38862"/>
                    <a:pt x="38862" y="0"/>
                    <a:pt x="86801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198027" cy="1404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837122" y="2330512"/>
            <a:ext cx="2462476" cy="88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90393" y="2363514"/>
            <a:ext cx="4054133" cy="815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50"/>
              </a:lnSpc>
            </a:pPr>
            <a:r>
              <a:rPr lang="en-US" sz="6368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64302" y="3865723"/>
            <a:ext cx="3861087" cy="661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96"/>
              </a:lnSpc>
            </a:pPr>
            <a:r>
              <a:rPr lang="en-US" sz="2800" b="1" spc="53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Interior Design &amp; Shop Drawing</a:t>
            </a:r>
          </a:p>
        </p:txBody>
      </p:sp>
      <p:sp>
        <p:nvSpPr>
          <p:cNvPr id="28" name="Freeform 28"/>
          <p:cNvSpPr/>
          <p:nvPr/>
        </p:nvSpPr>
        <p:spPr>
          <a:xfrm>
            <a:off x="13944600" y="546323"/>
            <a:ext cx="3824949" cy="1031514"/>
          </a:xfrm>
          <a:custGeom>
            <a:avLst/>
            <a:gdLst/>
            <a:ahLst/>
            <a:cxnLst/>
            <a:rect l="l" t="t" r="r" b="b"/>
            <a:pathLst>
              <a:path w="3001761" h="1031514">
                <a:moveTo>
                  <a:pt x="0" y="0"/>
                </a:moveTo>
                <a:lnTo>
                  <a:pt x="3001761" y="0"/>
                </a:lnTo>
                <a:lnTo>
                  <a:pt x="3001761" y="1031514"/>
                </a:lnTo>
                <a:lnTo>
                  <a:pt x="0" y="103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DACFB6-F86F-F47E-7030-202B3B9A1AC7}"/>
              </a:ext>
            </a:extLst>
          </p:cNvPr>
          <p:cNvSpPr txBox="1"/>
          <p:nvPr/>
        </p:nvSpPr>
        <p:spPr>
          <a:xfrm>
            <a:off x="11921024" y="7171681"/>
            <a:ext cx="43476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800" b="1" dirty="0">
                <a:solidFill>
                  <a:schemeClr val="bg1"/>
                </a:solidFill>
              </a:rPr>
              <a:t>هو عبارة عن عمل تصميمات من مختلف الطرزات والانماط وتقديم الاقتراحات واستخراج لوح الشوب دروينج للطباعة والتنفيذ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F5E2C703-7167-6F23-4DAF-74F84FE700D1}"/>
              </a:ext>
            </a:extLst>
          </p:cNvPr>
          <p:cNvSpPr txBox="1"/>
          <p:nvPr/>
        </p:nvSpPr>
        <p:spPr>
          <a:xfrm>
            <a:off x="7209209" y="3980381"/>
            <a:ext cx="3861087" cy="675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96"/>
              </a:lnSpc>
            </a:pPr>
            <a:r>
              <a:rPr lang="en-GB" sz="3200" b="1" spc="53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Architectural Design 2D&amp;3D</a:t>
            </a:r>
            <a:endParaRPr lang="en-US" sz="2800" b="1" spc="53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8093BB-FA8F-05F6-8B96-CBF2C6B701B0}"/>
              </a:ext>
            </a:extLst>
          </p:cNvPr>
          <p:cNvSpPr txBox="1"/>
          <p:nvPr/>
        </p:nvSpPr>
        <p:spPr>
          <a:xfrm>
            <a:off x="7040274" y="7078971"/>
            <a:ext cx="43476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800" b="1" dirty="0">
                <a:solidFill>
                  <a:schemeClr val="bg1"/>
                </a:solidFill>
              </a:rPr>
              <a:t>يتم فيها دراسة الموقع ودراسة المشروع وتفاصيلة وتقديم التصميمات والاقتراحات المناسبة طبقا للدراسات التي تم عملها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40" name="TextBox 27">
            <a:extLst>
              <a:ext uri="{FF2B5EF4-FFF2-40B4-BE49-F238E27FC236}">
                <a16:creationId xmlns:a16="http://schemas.microsoft.com/office/drawing/2014/main" id="{5ED5C3B1-5BD0-AB54-4349-875C5077E92B}"/>
              </a:ext>
            </a:extLst>
          </p:cNvPr>
          <p:cNvSpPr txBox="1"/>
          <p:nvPr/>
        </p:nvSpPr>
        <p:spPr>
          <a:xfrm>
            <a:off x="1702893" y="3950217"/>
            <a:ext cx="4994811" cy="675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96"/>
              </a:lnSpc>
            </a:pPr>
            <a:r>
              <a:rPr lang="en-GB" sz="3200" b="1" spc="53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Exterior Design &amp;Shop Drawing</a:t>
            </a:r>
            <a:endParaRPr lang="en-US" sz="3200" b="1" spc="53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C95E99-57FD-8EB7-98BB-EADB714A3315}"/>
              </a:ext>
            </a:extLst>
          </p:cNvPr>
          <p:cNvSpPr txBox="1"/>
          <p:nvPr/>
        </p:nvSpPr>
        <p:spPr>
          <a:xfrm>
            <a:off x="2110628" y="7178508"/>
            <a:ext cx="43476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800" b="1" dirty="0">
                <a:solidFill>
                  <a:schemeClr val="bg1"/>
                </a:solidFill>
              </a:rPr>
              <a:t>عمل التصميمات الخارجية والاظهار للمشروع </a:t>
            </a:r>
            <a:r>
              <a:rPr lang="en-GB" sz="2800" b="1" dirty="0">
                <a:solidFill>
                  <a:schemeClr val="bg1"/>
                </a:solidFill>
              </a:rPr>
              <a:t>2D&amp;3D</a:t>
            </a:r>
            <a:r>
              <a:rPr lang="ar-EG" sz="2800" b="1" dirty="0">
                <a:solidFill>
                  <a:schemeClr val="bg1"/>
                </a:solidFill>
              </a:rPr>
              <a:t> وتقديم الاقتراحات واستخراج لوح الشوب دروينج للتنفيذ في الموقع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AC8CEA-224D-18DC-38B9-008968D5AD44}"/>
              </a:ext>
            </a:extLst>
          </p:cNvPr>
          <p:cNvSpPr txBox="1"/>
          <p:nvPr/>
        </p:nvSpPr>
        <p:spPr>
          <a:xfrm>
            <a:off x="14248237" y="357677"/>
            <a:ext cx="32176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Architectural </a:t>
            </a:r>
          </a:p>
          <a:p>
            <a:r>
              <a:rPr lang="en-GB" sz="4400" b="1" dirty="0">
                <a:solidFill>
                  <a:srgbClr val="E6AF00"/>
                </a:solidFill>
              </a:rPr>
              <a:t>Team</a:t>
            </a:r>
          </a:p>
        </p:txBody>
      </p:sp>
      <p:pic>
        <p:nvPicPr>
          <p:cNvPr id="17" name="Picture 16" descr="A living room with a couch and a coffee table&#10;&#10;Description automatically generated">
            <a:extLst>
              <a:ext uri="{FF2B5EF4-FFF2-40B4-BE49-F238E27FC236}">
                <a16:creationId xmlns:a16="http://schemas.microsoft.com/office/drawing/2014/main" id="{176A2B57-4459-5336-1D21-C56CADED32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633" y="4574076"/>
            <a:ext cx="4548759" cy="25976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 descr="A building with a curved roof&#10;&#10;Description automatically generated">
            <a:extLst>
              <a:ext uri="{FF2B5EF4-FFF2-40B4-BE49-F238E27FC236}">
                <a16:creationId xmlns:a16="http://schemas.microsoft.com/office/drawing/2014/main" id="{7A09F991-26C9-EE25-366B-1056E457D11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455" y="4692099"/>
            <a:ext cx="4533172" cy="23423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Picture 21" descr="A building with a curved corner&#10;&#10;Description automatically generated">
            <a:extLst>
              <a:ext uri="{FF2B5EF4-FFF2-40B4-BE49-F238E27FC236}">
                <a16:creationId xmlns:a16="http://schemas.microsoft.com/office/drawing/2014/main" id="{A4EE91E7-61FC-FA98-7134-BC994135D64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773" y="4717993"/>
            <a:ext cx="4539500" cy="23677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3" name="Picture 22" descr="A yellow z with lightning bolt in the middle&#10;&#10;Description automatically generated">
            <a:extLst>
              <a:ext uri="{FF2B5EF4-FFF2-40B4-BE49-F238E27FC236}">
                <a16:creationId xmlns:a16="http://schemas.microsoft.com/office/drawing/2014/main" id="{8A34189B-E677-09F2-8FF1-FD1EAA39526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4626" y="-190817"/>
            <a:ext cx="3273024" cy="2764409"/>
          </a:xfrm>
          <a:prstGeom prst="rect">
            <a:avLst/>
          </a:prstGeom>
        </p:spPr>
      </p:pic>
      <p:sp>
        <p:nvSpPr>
          <p:cNvPr id="24" name="TextBox 12">
            <a:extLst>
              <a:ext uri="{FF2B5EF4-FFF2-40B4-BE49-F238E27FC236}">
                <a16:creationId xmlns:a16="http://schemas.microsoft.com/office/drawing/2014/main" id="{B840938C-BD01-6B3A-8E79-B24C7DF9FDFF}"/>
              </a:ext>
            </a:extLst>
          </p:cNvPr>
          <p:cNvSpPr txBox="1"/>
          <p:nvPr/>
        </p:nvSpPr>
        <p:spPr>
          <a:xfrm>
            <a:off x="1255875" y="461241"/>
            <a:ext cx="8448264" cy="139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10924" b="1" dirty="0"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sz="10924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924" b="1" dirty="0">
                <a:solidFill>
                  <a:srgbClr val="E6AF00"/>
                </a:solidFill>
                <a:latin typeface="Poppins Bold"/>
                <a:ea typeface="Poppins Bold"/>
                <a:cs typeface="Poppins Bold"/>
                <a:sym typeface="Poppins Bold"/>
              </a:rPr>
              <a:t>Zone</a:t>
            </a:r>
          </a:p>
        </p:txBody>
      </p:sp>
    </p:spTree>
    <p:extLst>
      <p:ext uri="{BB962C8B-B14F-4D97-AF65-F5344CB8AC3E}">
        <p14:creationId xmlns:p14="http://schemas.microsoft.com/office/powerpoint/2010/main" val="5241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7" grpId="0"/>
      <p:bldP spid="35" grpId="0"/>
      <p:bldP spid="38" grpId="0"/>
      <p:bldP spid="39" grpId="0"/>
      <p:bldP spid="40" grpId="0"/>
      <p:bldP spid="41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3519"/>
            <a:ext cx="9433060" cy="11066900"/>
            <a:chOff x="0" y="0"/>
            <a:chExt cx="3387477" cy="5294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87477" cy="5294645"/>
            </a:xfrm>
            <a:custGeom>
              <a:avLst/>
              <a:gdLst/>
              <a:ahLst/>
              <a:cxnLst/>
              <a:rect l="l" t="t" r="r" b="b"/>
              <a:pathLst>
                <a:path w="3387477" h="5294645">
                  <a:moveTo>
                    <a:pt x="30698" y="0"/>
                  </a:moveTo>
                  <a:lnTo>
                    <a:pt x="3356778" y="0"/>
                  </a:lnTo>
                  <a:cubicBezTo>
                    <a:pt x="3364920" y="0"/>
                    <a:pt x="3372729" y="3234"/>
                    <a:pt x="3378486" y="8991"/>
                  </a:cubicBezTo>
                  <a:cubicBezTo>
                    <a:pt x="3384243" y="14748"/>
                    <a:pt x="3387477" y="22557"/>
                    <a:pt x="3387477" y="30698"/>
                  </a:cubicBezTo>
                  <a:lnTo>
                    <a:pt x="3387477" y="5263947"/>
                  </a:lnTo>
                  <a:cubicBezTo>
                    <a:pt x="3387477" y="5272088"/>
                    <a:pt x="3384243" y="5279897"/>
                    <a:pt x="3378486" y="5285654"/>
                  </a:cubicBezTo>
                  <a:cubicBezTo>
                    <a:pt x="3372729" y="5291411"/>
                    <a:pt x="3364920" y="5294645"/>
                    <a:pt x="3356778" y="5294645"/>
                  </a:cubicBezTo>
                  <a:lnTo>
                    <a:pt x="30698" y="5294645"/>
                  </a:lnTo>
                  <a:cubicBezTo>
                    <a:pt x="22557" y="5294645"/>
                    <a:pt x="14748" y="5291411"/>
                    <a:pt x="8991" y="5285654"/>
                  </a:cubicBezTo>
                  <a:cubicBezTo>
                    <a:pt x="3234" y="5279897"/>
                    <a:pt x="0" y="5272088"/>
                    <a:pt x="0" y="5263947"/>
                  </a:cubicBezTo>
                  <a:lnTo>
                    <a:pt x="0" y="30698"/>
                  </a:lnTo>
                  <a:cubicBezTo>
                    <a:pt x="0" y="22557"/>
                    <a:pt x="3234" y="14748"/>
                    <a:pt x="8991" y="8991"/>
                  </a:cubicBezTo>
                  <a:cubicBezTo>
                    <a:pt x="14748" y="3234"/>
                    <a:pt x="22557" y="0"/>
                    <a:pt x="30698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87477" cy="5342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9453" y="6491326"/>
            <a:ext cx="4869180" cy="150182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9453" y="7309063"/>
            <a:ext cx="4869180" cy="1501827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9351664" y="2187769"/>
            <a:ext cx="8115300" cy="4513525"/>
          </a:xfrm>
          <a:custGeom>
            <a:avLst/>
            <a:gdLst/>
            <a:ahLst/>
            <a:cxnLst/>
            <a:rect l="l" t="t" r="r" b="b"/>
            <a:pathLst>
              <a:path w="8115300" h="4513525">
                <a:moveTo>
                  <a:pt x="0" y="0"/>
                </a:moveTo>
                <a:lnTo>
                  <a:pt x="8115300" y="0"/>
                </a:lnTo>
                <a:lnTo>
                  <a:pt x="8115300" y="4513525"/>
                </a:lnTo>
                <a:lnTo>
                  <a:pt x="0" y="451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933" b="-9933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9" name="TextBox 9"/>
          <p:cNvSpPr txBox="1"/>
          <p:nvPr/>
        </p:nvSpPr>
        <p:spPr>
          <a:xfrm>
            <a:off x="1028700" y="3358014"/>
            <a:ext cx="4924952" cy="815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 dirty="0">
                <a:latin typeface="Poppins Bold"/>
                <a:ea typeface="Poppins Bold"/>
                <a:cs typeface="Poppins Bold"/>
                <a:sym typeface="Poppins Bold"/>
              </a:rPr>
              <a:t>Target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10323" y="3358014"/>
            <a:ext cx="4086658" cy="815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 dirty="0">
                <a:solidFill>
                  <a:srgbClr val="E6AF0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8059977"/>
            <a:ext cx="3001761" cy="1031514"/>
          </a:xfrm>
          <a:custGeom>
            <a:avLst/>
            <a:gdLst/>
            <a:ahLst/>
            <a:cxnLst/>
            <a:rect l="l" t="t" r="r" b="b"/>
            <a:pathLst>
              <a:path w="3001761" h="1031514">
                <a:moveTo>
                  <a:pt x="0" y="0"/>
                </a:moveTo>
                <a:lnTo>
                  <a:pt x="3001761" y="0"/>
                </a:lnTo>
                <a:lnTo>
                  <a:pt x="3001761" y="1031514"/>
                </a:lnTo>
                <a:lnTo>
                  <a:pt x="0" y="1031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14" name="Picture 13" descr="A yellow z with lightning bolt in the middle&#10;&#10;Description automatically generated">
            <a:extLst>
              <a:ext uri="{FF2B5EF4-FFF2-40B4-BE49-F238E27FC236}">
                <a16:creationId xmlns:a16="http://schemas.microsoft.com/office/drawing/2014/main" id="{46121698-D71F-4107-FEF5-F2B521273C8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4626" y="-190817"/>
            <a:ext cx="3273024" cy="2764409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59E00534-5D6B-AE08-CCD9-F6DA3DC55488}"/>
              </a:ext>
            </a:extLst>
          </p:cNvPr>
          <p:cNvSpPr txBox="1"/>
          <p:nvPr/>
        </p:nvSpPr>
        <p:spPr>
          <a:xfrm>
            <a:off x="1255875" y="461241"/>
            <a:ext cx="8448264" cy="139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10924" b="1" dirty="0"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sz="10924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924" b="1" dirty="0">
                <a:solidFill>
                  <a:srgbClr val="E6AF00"/>
                </a:solidFill>
                <a:latin typeface="Poppins Bold"/>
                <a:ea typeface="Poppins Bold"/>
                <a:cs typeface="Poppins Bold"/>
                <a:sym typeface="Poppins Bold"/>
              </a:rPr>
              <a:t>Zone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908E4F-3793-51E9-C520-6D3D6BDCA948}"/>
              </a:ext>
            </a:extLst>
          </p:cNvPr>
          <p:cNvSpPr txBox="1"/>
          <p:nvPr/>
        </p:nvSpPr>
        <p:spPr>
          <a:xfrm>
            <a:off x="167252" y="4738725"/>
            <a:ext cx="84482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q"/>
            </a:pPr>
            <a:r>
              <a:rPr lang="ar-EG" sz="3200" dirty="0"/>
              <a:t>التعاون مع المكاتب الاستشارية والشركات الصغيرة لتقديم الرسومات التصميمية والتنفيذية</a:t>
            </a:r>
          </a:p>
          <a:p>
            <a:pPr marL="457200" indent="-457200" algn="r" rtl="1">
              <a:buFont typeface="Wingdings" panose="05000000000000000000" pitchFamily="2" charset="2"/>
              <a:buChar char="q"/>
            </a:pPr>
            <a:r>
              <a:rPr lang="ar-EG" sz="3200" dirty="0"/>
              <a:t>القطاع الصناعي لنقوم بتقديم خدمات للمنشأت الصناعية التي تحتاج الي بعض الحلول الكهربية وعمل انظمة الكهرباء للمتستودعات الخاص بالنشاط الصناعي</a:t>
            </a:r>
          </a:p>
          <a:p>
            <a:pPr marL="457200" indent="-457200" algn="r" rtl="1">
              <a:buFont typeface="Wingdings" panose="05000000000000000000" pitchFamily="2" charset="2"/>
              <a:buChar char="q"/>
            </a:pPr>
            <a:r>
              <a:rPr lang="ar-EG" sz="3200" dirty="0"/>
              <a:t>المشروعات السكانية وبالتحديد الاسر التي تبني منازل 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1689586" y="8338073"/>
            <a:ext cx="4550797" cy="790701"/>
          </a:xfrm>
          <a:custGeom>
            <a:avLst/>
            <a:gdLst/>
            <a:ahLst/>
            <a:cxnLst/>
            <a:rect l="l" t="t" r="r" b="b"/>
            <a:pathLst>
              <a:path w="4550797" h="790701">
                <a:moveTo>
                  <a:pt x="0" y="0"/>
                </a:moveTo>
                <a:lnTo>
                  <a:pt x="4550797" y="0"/>
                </a:lnTo>
                <a:lnTo>
                  <a:pt x="4550797" y="790702"/>
                </a:lnTo>
                <a:lnTo>
                  <a:pt x="0" y="790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1691625" y="3662632"/>
            <a:ext cx="4548758" cy="5152416"/>
            <a:chOff x="0" y="0"/>
            <a:chExt cx="1198027" cy="1357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8027" cy="1357015"/>
            </a:xfrm>
            <a:custGeom>
              <a:avLst/>
              <a:gdLst/>
              <a:ahLst/>
              <a:cxnLst/>
              <a:rect l="l" t="t" r="r" b="b"/>
              <a:pathLst>
                <a:path w="1198027" h="1357015">
                  <a:moveTo>
                    <a:pt x="86801" y="0"/>
                  </a:moveTo>
                  <a:lnTo>
                    <a:pt x="1111226" y="0"/>
                  </a:lnTo>
                  <a:cubicBezTo>
                    <a:pt x="1134247" y="0"/>
                    <a:pt x="1156325" y="9145"/>
                    <a:pt x="1172603" y="25423"/>
                  </a:cubicBezTo>
                  <a:cubicBezTo>
                    <a:pt x="1188882" y="41702"/>
                    <a:pt x="1198027" y="63780"/>
                    <a:pt x="1198027" y="86801"/>
                  </a:cubicBezTo>
                  <a:lnTo>
                    <a:pt x="1198027" y="1270214"/>
                  </a:lnTo>
                  <a:cubicBezTo>
                    <a:pt x="1198027" y="1318153"/>
                    <a:pt x="1159165" y="1357015"/>
                    <a:pt x="1111226" y="1357015"/>
                  </a:cubicBezTo>
                  <a:lnTo>
                    <a:pt x="86801" y="1357015"/>
                  </a:lnTo>
                  <a:cubicBezTo>
                    <a:pt x="38862" y="1357015"/>
                    <a:pt x="0" y="1318153"/>
                    <a:pt x="0" y="1270214"/>
                  </a:cubicBezTo>
                  <a:lnTo>
                    <a:pt x="0" y="86801"/>
                  </a:lnTo>
                  <a:cubicBezTo>
                    <a:pt x="0" y="38862"/>
                    <a:pt x="38862" y="0"/>
                    <a:pt x="86801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98027" cy="1404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220246" y="4231879"/>
            <a:ext cx="1491769" cy="1539349"/>
          </a:xfrm>
          <a:custGeom>
            <a:avLst/>
            <a:gdLst/>
            <a:ahLst/>
            <a:cxnLst/>
            <a:rect l="l" t="t" r="r" b="b"/>
            <a:pathLst>
              <a:path w="1491769" h="1539349">
                <a:moveTo>
                  <a:pt x="0" y="0"/>
                </a:moveTo>
                <a:lnTo>
                  <a:pt x="1491769" y="0"/>
                </a:lnTo>
                <a:lnTo>
                  <a:pt x="1491769" y="1539349"/>
                </a:lnTo>
                <a:lnTo>
                  <a:pt x="0" y="1539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2042598" y="8338073"/>
            <a:ext cx="4550797" cy="790701"/>
          </a:xfrm>
          <a:custGeom>
            <a:avLst/>
            <a:gdLst/>
            <a:ahLst/>
            <a:cxnLst/>
            <a:rect l="l" t="t" r="r" b="b"/>
            <a:pathLst>
              <a:path w="4550797" h="790701">
                <a:moveTo>
                  <a:pt x="0" y="0"/>
                </a:moveTo>
                <a:lnTo>
                  <a:pt x="4550798" y="0"/>
                </a:lnTo>
                <a:lnTo>
                  <a:pt x="4550798" y="790702"/>
                </a:lnTo>
                <a:lnTo>
                  <a:pt x="0" y="790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0" name="Group 10"/>
          <p:cNvGrpSpPr/>
          <p:nvPr/>
        </p:nvGrpSpPr>
        <p:grpSpPr>
          <a:xfrm>
            <a:off x="2047617" y="3662632"/>
            <a:ext cx="4548758" cy="5152416"/>
            <a:chOff x="0" y="0"/>
            <a:chExt cx="1198027" cy="13570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8027" cy="1357015"/>
            </a:xfrm>
            <a:custGeom>
              <a:avLst/>
              <a:gdLst/>
              <a:ahLst/>
              <a:cxnLst/>
              <a:rect l="l" t="t" r="r" b="b"/>
              <a:pathLst>
                <a:path w="1198027" h="1357015">
                  <a:moveTo>
                    <a:pt x="86801" y="0"/>
                  </a:moveTo>
                  <a:lnTo>
                    <a:pt x="1111226" y="0"/>
                  </a:lnTo>
                  <a:cubicBezTo>
                    <a:pt x="1134247" y="0"/>
                    <a:pt x="1156325" y="9145"/>
                    <a:pt x="1172603" y="25423"/>
                  </a:cubicBezTo>
                  <a:cubicBezTo>
                    <a:pt x="1188882" y="41702"/>
                    <a:pt x="1198027" y="63780"/>
                    <a:pt x="1198027" y="86801"/>
                  </a:cubicBezTo>
                  <a:lnTo>
                    <a:pt x="1198027" y="1270214"/>
                  </a:lnTo>
                  <a:cubicBezTo>
                    <a:pt x="1198027" y="1318153"/>
                    <a:pt x="1159165" y="1357015"/>
                    <a:pt x="1111226" y="1357015"/>
                  </a:cubicBezTo>
                  <a:lnTo>
                    <a:pt x="86801" y="1357015"/>
                  </a:lnTo>
                  <a:cubicBezTo>
                    <a:pt x="38862" y="1357015"/>
                    <a:pt x="0" y="1318153"/>
                    <a:pt x="0" y="1270214"/>
                  </a:cubicBezTo>
                  <a:lnTo>
                    <a:pt x="0" y="86801"/>
                  </a:lnTo>
                  <a:cubicBezTo>
                    <a:pt x="0" y="38862"/>
                    <a:pt x="38862" y="0"/>
                    <a:pt x="86801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98027" cy="1404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656816" y="4139606"/>
            <a:ext cx="1330359" cy="1793376"/>
          </a:xfrm>
          <a:custGeom>
            <a:avLst/>
            <a:gdLst/>
            <a:ahLst/>
            <a:cxnLst/>
            <a:rect l="l" t="t" r="r" b="b"/>
            <a:pathLst>
              <a:path w="1330359" h="1793376">
                <a:moveTo>
                  <a:pt x="0" y="0"/>
                </a:moveTo>
                <a:lnTo>
                  <a:pt x="1330359" y="0"/>
                </a:lnTo>
                <a:lnTo>
                  <a:pt x="1330359" y="1793376"/>
                </a:lnTo>
                <a:lnTo>
                  <a:pt x="0" y="1793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6869621" y="8338073"/>
            <a:ext cx="4550797" cy="790701"/>
          </a:xfrm>
          <a:custGeom>
            <a:avLst/>
            <a:gdLst/>
            <a:ahLst/>
            <a:cxnLst/>
            <a:rect l="l" t="t" r="r" b="b"/>
            <a:pathLst>
              <a:path w="4550797" h="790701">
                <a:moveTo>
                  <a:pt x="0" y="0"/>
                </a:moveTo>
                <a:lnTo>
                  <a:pt x="4550797" y="0"/>
                </a:lnTo>
                <a:lnTo>
                  <a:pt x="4550797" y="790702"/>
                </a:lnTo>
                <a:lnTo>
                  <a:pt x="0" y="790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5" name="Group 15"/>
          <p:cNvGrpSpPr/>
          <p:nvPr/>
        </p:nvGrpSpPr>
        <p:grpSpPr>
          <a:xfrm>
            <a:off x="6869621" y="3662632"/>
            <a:ext cx="4548758" cy="5152416"/>
            <a:chOff x="0" y="0"/>
            <a:chExt cx="1198027" cy="13570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8027" cy="1357015"/>
            </a:xfrm>
            <a:custGeom>
              <a:avLst/>
              <a:gdLst/>
              <a:ahLst/>
              <a:cxnLst/>
              <a:rect l="l" t="t" r="r" b="b"/>
              <a:pathLst>
                <a:path w="1198027" h="1357015">
                  <a:moveTo>
                    <a:pt x="86801" y="0"/>
                  </a:moveTo>
                  <a:lnTo>
                    <a:pt x="1111226" y="0"/>
                  </a:lnTo>
                  <a:cubicBezTo>
                    <a:pt x="1134247" y="0"/>
                    <a:pt x="1156325" y="9145"/>
                    <a:pt x="1172603" y="25423"/>
                  </a:cubicBezTo>
                  <a:cubicBezTo>
                    <a:pt x="1188882" y="41702"/>
                    <a:pt x="1198027" y="63780"/>
                    <a:pt x="1198027" y="86801"/>
                  </a:cubicBezTo>
                  <a:lnTo>
                    <a:pt x="1198027" y="1270214"/>
                  </a:lnTo>
                  <a:cubicBezTo>
                    <a:pt x="1198027" y="1318153"/>
                    <a:pt x="1159165" y="1357015"/>
                    <a:pt x="1111226" y="1357015"/>
                  </a:cubicBezTo>
                  <a:lnTo>
                    <a:pt x="86801" y="1357015"/>
                  </a:lnTo>
                  <a:cubicBezTo>
                    <a:pt x="38862" y="1357015"/>
                    <a:pt x="0" y="1318153"/>
                    <a:pt x="0" y="1270214"/>
                  </a:cubicBezTo>
                  <a:lnTo>
                    <a:pt x="0" y="86801"/>
                  </a:lnTo>
                  <a:cubicBezTo>
                    <a:pt x="0" y="38862"/>
                    <a:pt x="38862" y="0"/>
                    <a:pt x="86801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198027" cy="1404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8313180" y="4231879"/>
            <a:ext cx="1661640" cy="1614080"/>
          </a:xfrm>
          <a:custGeom>
            <a:avLst/>
            <a:gdLst/>
            <a:ahLst/>
            <a:cxnLst/>
            <a:rect l="l" t="t" r="r" b="b"/>
            <a:pathLst>
              <a:path w="1661640" h="1614080">
                <a:moveTo>
                  <a:pt x="0" y="0"/>
                </a:moveTo>
                <a:lnTo>
                  <a:pt x="1661640" y="0"/>
                </a:lnTo>
                <a:lnTo>
                  <a:pt x="1661640" y="1614080"/>
                </a:lnTo>
                <a:lnTo>
                  <a:pt x="0" y="1614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TextBox 19"/>
          <p:cNvSpPr txBox="1"/>
          <p:nvPr/>
        </p:nvSpPr>
        <p:spPr>
          <a:xfrm>
            <a:off x="3854851" y="2165916"/>
            <a:ext cx="5849288" cy="815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23376" y="2179320"/>
            <a:ext cx="4101646" cy="87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50"/>
              </a:lnSpc>
            </a:pPr>
            <a:r>
              <a:rPr lang="en-US" sz="6368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Strategy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257539" y="528319"/>
            <a:ext cx="3001761" cy="1031514"/>
          </a:xfrm>
          <a:custGeom>
            <a:avLst/>
            <a:gdLst/>
            <a:ahLst/>
            <a:cxnLst/>
            <a:rect l="l" t="t" r="r" b="b"/>
            <a:pathLst>
              <a:path w="3001761" h="1031514">
                <a:moveTo>
                  <a:pt x="0" y="0"/>
                </a:moveTo>
                <a:lnTo>
                  <a:pt x="3001761" y="0"/>
                </a:lnTo>
                <a:lnTo>
                  <a:pt x="3001761" y="1031514"/>
                </a:lnTo>
                <a:lnTo>
                  <a:pt x="0" y="10315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26" name="Picture 25" descr="A yellow z with lightning bolt in the middle&#10;&#10;Description automatically generated">
            <a:extLst>
              <a:ext uri="{FF2B5EF4-FFF2-40B4-BE49-F238E27FC236}">
                <a16:creationId xmlns:a16="http://schemas.microsoft.com/office/drawing/2014/main" id="{ABA28CC5-D4AC-4312-9611-5FBDE88CABB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4626" y="-190817"/>
            <a:ext cx="3273024" cy="2764409"/>
          </a:xfrm>
          <a:prstGeom prst="rect">
            <a:avLst/>
          </a:prstGeom>
        </p:spPr>
      </p:pic>
      <p:sp>
        <p:nvSpPr>
          <p:cNvPr id="27" name="TextBox 12">
            <a:extLst>
              <a:ext uri="{FF2B5EF4-FFF2-40B4-BE49-F238E27FC236}">
                <a16:creationId xmlns:a16="http://schemas.microsoft.com/office/drawing/2014/main" id="{D5C9AB81-9013-1DE9-93D8-C7622DBFE3F8}"/>
              </a:ext>
            </a:extLst>
          </p:cNvPr>
          <p:cNvSpPr txBox="1"/>
          <p:nvPr/>
        </p:nvSpPr>
        <p:spPr>
          <a:xfrm>
            <a:off x="1255875" y="461241"/>
            <a:ext cx="8448264" cy="139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10924" b="1" dirty="0"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sz="10924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924" b="1" dirty="0">
                <a:solidFill>
                  <a:srgbClr val="E6AF00"/>
                </a:solidFill>
                <a:latin typeface="Poppins Bold"/>
                <a:ea typeface="Poppins Bold"/>
                <a:cs typeface="Poppins Bold"/>
                <a:sym typeface="Poppins Bold"/>
              </a:rPr>
              <a:t>Zone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E13546-649D-D82D-B071-E359853B8F05}"/>
              </a:ext>
            </a:extLst>
          </p:cNvPr>
          <p:cNvSpPr txBox="1"/>
          <p:nvPr/>
        </p:nvSpPr>
        <p:spPr>
          <a:xfrm>
            <a:off x="2362200" y="6238840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400" b="1" dirty="0">
                <a:solidFill>
                  <a:schemeClr val="bg1"/>
                </a:solidFill>
              </a:rPr>
              <a:t>تقديم خدمات متميزة وفريدة والابتكار في التصميمات المعمارية وعمل انظمة كهربية مختلفة وحديثة  واستخدام برامج مختلفة وحديثة لادارة المشاريع وتسهيل العمليات وتوفير وقت وجهد فريق العمل 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D7E784-D52E-B1FA-A22E-578EB1C501A5}"/>
              </a:ext>
            </a:extLst>
          </p:cNvPr>
          <p:cNvSpPr txBox="1"/>
          <p:nvPr/>
        </p:nvSpPr>
        <p:spPr>
          <a:xfrm>
            <a:off x="7168021" y="6269965"/>
            <a:ext cx="388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400" b="1" dirty="0">
                <a:solidFill>
                  <a:schemeClr val="bg1"/>
                </a:solidFill>
              </a:rPr>
              <a:t>توسيع قاعدة العملاء وتعزيز العلاقات معهم وتقديم خدمة مابعد الانتهاء من المشروع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922E6A-B18A-2A7B-936D-A68388E5A115}"/>
              </a:ext>
            </a:extLst>
          </p:cNvPr>
          <p:cNvSpPr txBox="1"/>
          <p:nvPr/>
        </p:nvSpPr>
        <p:spPr>
          <a:xfrm>
            <a:off x="11814663" y="6269964"/>
            <a:ext cx="388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400" b="1" dirty="0">
                <a:solidFill>
                  <a:schemeClr val="bg1"/>
                </a:solidFill>
              </a:rPr>
              <a:t>تقديم حلول كهربية تساهم في تقليل استهلاك الطاقة </a:t>
            </a:r>
          </a:p>
          <a:p>
            <a:pPr algn="ctr" rtl="1"/>
            <a:r>
              <a:rPr lang="ar-EG" sz="2400" b="1" dirty="0">
                <a:solidFill>
                  <a:schemeClr val="bg1"/>
                </a:solidFill>
              </a:rPr>
              <a:t>وتقديم ايضا حلول معمارية  تساهم في شكل التنفيذ والشكل النهائي للمشروع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19" grpId="0"/>
      <p:bldP spid="21" grpId="0"/>
      <p:bldP spid="28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28700" y="5870097"/>
            <a:ext cx="463567" cy="463567"/>
          </a:xfrm>
          <a:custGeom>
            <a:avLst/>
            <a:gdLst/>
            <a:ahLst/>
            <a:cxnLst/>
            <a:rect l="l" t="t" r="r" b="b"/>
            <a:pathLst>
              <a:path w="463567" h="463567">
                <a:moveTo>
                  <a:pt x="0" y="0"/>
                </a:moveTo>
                <a:lnTo>
                  <a:pt x="463567" y="0"/>
                </a:lnTo>
                <a:lnTo>
                  <a:pt x="463567" y="463567"/>
                </a:lnTo>
                <a:lnTo>
                  <a:pt x="0" y="463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028700" y="6619414"/>
            <a:ext cx="463567" cy="463567"/>
          </a:xfrm>
          <a:custGeom>
            <a:avLst/>
            <a:gdLst/>
            <a:ahLst/>
            <a:cxnLst/>
            <a:rect l="l" t="t" r="r" b="b"/>
            <a:pathLst>
              <a:path w="463567" h="463567">
                <a:moveTo>
                  <a:pt x="0" y="0"/>
                </a:moveTo>
                <a:lnTo>
                  <a:pt x="463567" y="0"/>
                </a:lnTo>
                <a:lnTo>
                  <a:pt x="463567" y="463568"/>
                </a:lnTo>
                <a:lnTo>
                  <a:pt x="0" y="463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28700" y="7368732"/>
            <a:ext cx="463567" cy="463567"/>
          </a:xfrm>
          <a:custGeom>
            <a:avLst/>
            <a:gdLst/>
            <a:ahLst/>
            <a:cxnLst/>
            <a:rect l="l" t="t" r="r" b="b"/>
            <a:pathLst>
              <a:path w="463567" h="463567">
                <a:moveTo>
                  <a:pt x="0" y="0"/>
                </a:moveTo>
                <a:lnTo>
                  <a:pt x="463567" y="0"/>
                </a:lnTo>
                <a:lnTo>
                  <a:pt x="463567" y="463567"/>
                </a:lnTo>
                <a:lnTo>
                  <a:pt x="0" y="463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8472518" y="-65131"/>
            <a:ext cx="9815482" cy="10542631"/>
            <a:chOff x="0" y="0"/>
            <a:chExt cx="3387477" cy="52946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87477" cy="5294645"/>
            </a:xfrm>
            <a:custGeom>
              <a:avLst/>
              <a:gdLst/>
              <a:ahLst/>
              <a:cxnLst/>
              <a:rect l="l" t="t" r="r" b="b"/>
              <a:pathLst>
                <a:path w="3387477" h="5294645">
                  <a:moveTo>
                    <a:pt x="30698" y="0"/>
                  </a:moveTo>
                  <a:lnTo>
                    <a:pt x="3356778" y="0"/>
                  </a:lnTo>
                  <a:cubicBezTo>
                    <a:pt x="3364920" y="0"/>
                    <a:pt x="3372729" y="3234"/>
                    <a:pt x="3378486" y="8991"/>
                  </a:cubicBezTo>
                  <a:cubicBezTo>
                    <a:pt x="3384243" y="14748"/>
                    <a:pt x="3387477" y="22557"/>
                    <a:pt x="3387477" y="30698"/>
                  </a:cubicBezTo>
                  <a:lnTo>
                    <a:pt x="3387477" y="5263947"/>
                  </a:lnTo>
                  <a:cubicBezTo>
                    <a:pt x="3387477" y="5272088"/>
                    <a:pt x="3384243" y="5279897"/>
                    <a:pt x="3378486" y="5285654"/>
                  </a:cubicBezTo>
                  <a:cubicBezTo>
                    <a:pt x="3372729" y="5291411"/>
                    <a:pt x="3364920" y="5294645"/>
                    <a:pt x="3356778" y="5294645"/>
                  </a:cubicBezTo>
                  <a:lnTo>
                    <a:pt x="30698" y="5294645"/>
                  </a:lnTo>
                  <a:cubicBezTo>
                    <a:pt x="22557" y="5294645"/>
                    <a:pt x="14748" y="5291411"/>
                    <a:pt x="8991" y="5285654"/>
                  </a:cubicBezTo>
                  <a:cubicBezTo>
                    <a:pt x="3234" y="5279897"/>
                    <a:pt x="0" y="5272088"/>
                    <a:pt x="0" y="5263947"/>
                  </a:cubicBezTo>
                  <a:lnTo>
                    <a:pt x="0" y="30698"/>
                  </a:lnTo>
                  <a:cubicBezTo>
                    <a:pt x="0" y="22557"/>
                    <a:pt x="3234" y="14748"/>
                    <a:pt x="8991" y="8991"/>
                  </a:cubicBezTo>
                  <a:cubicBezTo>
                    <a:pt x="14748" y="3234"/>
                    <a:pt x="22557" y="0"/>
                    <a:pt x="30698" y="0"/>
                  </a:cubicBezTo>
                  <a:close/>
                </a:path>
              </a:pathLst>
            </a:custGeom>
            <a:solidFill>
              <a:srgbClr val="DCAF0E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387477" cy="5342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794163"/>
            <a:ext cx="4924952" cy="88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Get 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91176" y="2794163"/>
            <a:ext cx="4086658" cy="88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6368" b="1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Touch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918890"/>
            <a:ext cx="6801237" cy="93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13"/>
              </a:lnSpc>
            </a:pPr>
            <a:r>
              <a:rPr lang="en-GB" sz="2400" b="1" u="none" strike="noStrike" spc="-11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 can contact us via WhatsApp, or through any of our social networking sites, or through the website</a:t>
            </a:r>
            <a:endParaRPr lang="en-US" sz="2400" b="1" u="none" strike="noStrike" spc="-1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69359" y="5840198"/>
            <a:ext cx="4609744" cy="40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5"/>
              </a:lnSpc>
              <a:spcBef>
                <a:spcPct val="0"/>
              </a:spcBef>
            </a:pPr>
            <a:r>
              <a:rPr lang="en-US" sz="2360" u="none" strike="noStrike" spc="-1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lang="en-US" sz="2360" spc="-1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201558795406</a:t>
            </a:r>
            <a:endParaRPr lang="en-US" sz="2360" u="none" strike="noStrike" spc="-11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69359" y="6589516"/>
            <a:ext cx="4609744" cy="40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5"/>
              </a:lnSpc>
              <a:spcBef>
                <a:spcPct val="0"/>
              </a:spcBef>
            </a:pPr>
            <a:r>
              <a:rPr lang="en-US" sz="2360" u="none" strike="noStrike" spc="-1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https://out-zone-group.web.app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69359" y="7347681"/>
            <a:ext cx="4609744" cy="40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5"/>
              </a:lnSpc>
              <a:spcBef>
                <a:spcPct val="0"/>
              </a:spcBef>
            </a:pPr>
            <a:r>
              <a:rPr lang="en-US" sz="2360" u="none" strike="noStrike" spc="-11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Info.outzone@gmail.com</a:t>
            </a:r>
          </a:p>
        </p:txBody>
      </p:sp>
      <p:sp>
        <p:nvSpPr>
          <p:cNvPr id="19" name="Freeform 19"/>
          <p:cNvSpPr/>
          <p:nvPr/>
        </p:nvSpPr>
        <p:spPr>
          <a:xfrm>
            <a:off x="14257539" y="1044076"/>
            <a:ext cx="3001761" cy="1031514"/>
          </a:xfrm>
          <a:custGeom>
            <a:avLst/>
            <a:gdLst/>
            <a:ahLst/>
            <a:cxnLst/>
            <a:rect l="l" t="t" r="r" b="b"/>
            <a:pathLst>
              <a:path w="3001761" h="1031514">
                <a:moveTo>
                  <a:pt x="0" y="0"/>
                </a:moveTo>
                <a:lnTo>
                  <a:pt x="3001761" y="0"/>
                </a:lnTo>
                <a:lnTo>
                  <a:pt x="3001761" y="1031514"/>
                </a:lnTo>
                <a:lnTo>
                  <a:pt x="0" y="1031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20" name="Picture 19" descr="A yellow z with lightning bolt in the middle&#10;&#10;Description automatically generated">
            <a:extLst>
              <a:ext uri="{FF2B5EF4-FFF2-40B4-BE49-F238E27FC236}">
                <a16:creationId xmlns:a16="http://schemas.microsoft.com/office/drawing/2014/main" id="{57573E80-3977-C1E0-5C3A-15137FF8256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1301" y="-195792"/>
            <a:ext cx="3273024" cy="2764409"/>
          </a:xfrm>
          <a:prstGeom prst="rect">
            <a:avLst/>
          </a:prstGeom>
        </p:spPr>
      </p:pic>
      <p:sp>
        <p:nvSpPr>
          <p:cNvPr id="21" name="TextBox 12">
            <a:extLst>
              <a:ext uri="{FF2B5EF4-FFF2-40B4-BE49-F238E27FC236}">
                <a16:creationId xmlns:a16="http://schemas.microsoft.com/office/drawing/2014/main" id="{FEFFF3CE-D271-5970-D5F0-55067C09BA14}"/>
              </a:ext>
            </a:extLst>
          </p:cNvPr>
          <p:cNvSpPr txBox="1"/>
          <p:nvPr/>
        </p:nvSpPr>
        <p:spPr>
          <a:xfrm>
            <a:off x="1028700" y="512275"/>
            <a:ext cx="8448264" cy="139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78"/>
              </a:lnSpc>
            </a:pPr>
            <a:r>
              <a:rPr lang="en-US" sz="10924" b="1" dirty="0">
                <a:latin typeface="Poppins Bold"/>
                <a:ea typeface="Poppins Bold"/>
                <a:cs typeface="Poppins Bold"/>
                <a:sym typeface="Poppins Bold"/>
              </a:rPr>
              <a:t>Out</a:t>
            </a:r>
            <a:r>
              <a:rPr lang="en-US" sz="10924" b="1" dirty="0">
                <a:solidFill>
                  <a:srgbClr val="DCAF0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0924" b="1" dirty="0">
                <a:solidFill>
                  <a:srgbClr val="E6AF00"/>
                </a:solidFill>
                <a:latin typeface="Poppins Bold"/>
                <a:ea typeface="Poppins Bold"/>
                <a:cs typeface="Poppins Bold"/>
                <a:sym typeface="Poppins Bold"/>
              </a:rPr>
              <a:t>Zone</a:t>
            </a: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7CCAFDEB-0BD2-AD20-78E4-CF5A864F26A3}"/>
              </a:ext>
            </a:extLst>
          </p:cNvPr>
          <p:cNvSpPr/>
          <p:nvPr/>
        </p:nvSpPr>
        <p:spPr>
          <a:xfrm>
            <a:off x="8461130" y="-64892"/>
            <a:ext cx="9734228" cy="4675231"/>
          </a:xfrm>
          <a:custGeom>
            <a:avLst/>
            <a:gdLst/>
            <a:ahLst/>
            <a:cxnLst/>
            <a:rect l="l" t="t" r="r" b="b"/>
            <a:pathLst>
              <a:path w="7472251" h="4021775">
                <a:moveTo>
                  <a:pt x="0" y="0"/>
                </a:moveTo>
                <a:lnTo>
                  <a:pt x="7472251" y="0"/>
                </a:lnTo>
                <a:lnTo>
                  <a:pt x="7472251" y="4021775"/>
                </a:lnTo>
                <a:lnTo>
                  <a:pt x="0" y="4021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1892" b="-1189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DD73F68F-152C-8BFE-E891-86CC38F9A51E}"/>
              </a:ext>
            </a:extLst>
          </p:cNvPr>
          <p:cNvSpPr txBox="1"/>
          <p:nvPr/>
        </p:nvSpPr>
        <p:spPr>
          <a:xfrm>
            <a:off x="8614147" y="5026931"/>
            <a:ext cx="2757441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Media QR. </a:t>
            </a:r>
          </a:p>
        </p:txBody>
      </p:sp>
      <p:sp>
        <p:nvSpPr>
          <p:cNvPr id="28" name="Freeform 13">
            <a:extLst>
              <a:ext uri="{FF2B5EF4-FFF2-40B4-BE49-F238E27FC236}">
                <a16:creationId xmlns:a16="http://schemas.microsoft.com/office/drawing/2014/main" id="{94FEEA53-FFD6-8DB9-4403-ED94C162CB3D}"/>
              </a:ext>
            </a:extLst>
          </p:cNvPr>
          <p:cNvSpPr/>
          <p:nvPr/>
        </p:nvSpPr>
        <p:spPr>
          <a:xfrm>
            <a:off x="11411332" y="4951924"/>
            <a:ext cx="559623" cy="531133"/>
          </a:xfrm>
          <a:custGeom>
            <a:avLst/>
            <a:gdLst/>
            <a:ahLst/>
            <a:cxnLst/>
            <a:rect l="l" t="t" r="r" b="b"/>
            <a:pathLst>
              <a:path w="559623" h="531133">
                <a:moveTo>
                  <a:pt x="0" y="0"/>
                </a:moveTo>
                <a:lnTo>
                  <a:pt x="559623" y="0"/>
                </a:lnTo>
                <a:lnTo>
                  <a:pt x="559623" y="531133"/>
                </a:lnTo>
                <a:lnTo>
                  <a:pt x="0" y="5311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29" name="Picture 28" descr="A yellow and black qr code&#10;&#10;Description automatically generated">
            <a:extLst>
              <a:ext uri="{FF2B5EF4-FFF2-40B4-BE49-F238E27FC236}">
                <a16:creationId xmlns:a16="http://schemas.microsoft.com/office/drawing/2014/main" id="{E629F879-8B5D-BC09-30EA-E0BB0229E8F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457" y="5677566"/>
            <a:ext cx="2964319" cy="3004508"/>
          </a:xfrm>
          <a:prstGeom prst="rect">
            <a:avLst/>
          </a:prstGeom>
        </p:spPr>
      </p:pic>
      <p:sp>
        <p:nvSpPr>
          <p:cNvPr id="30" name="Freeform 4">
            <a:extLst>
              <a:ext uri="{FF2B5EF4-FFF2-40B4-BE49-F238E27FC236}">
                <a16:creationId xmlns:a16="http://schemas.microsoft.com/office/drawing/2014/main" id="{7582ECEA-D1FC-2EA2-6743-07D58FBE03E0}"/>
              </a:ext>
            </a:extLst>
          </p:cNvPr>
          <p:cNvSpPr/>
          <p:nvPr/>
        </p:nvSpPr>
        <p:spPr>
          <a:xfrm>
            <a:off x="9285243" y="8797720"/>
            <a:ext cx="639702" cy="535359"/>
          </a:xfrm>
          <a:custGeom>
            <a:avLst/>
            <a:gdLst/>
            <a:ahLst/>
            <a:cxnLst/>
            <a:rect l="l" t="t" r="r" b="b"/>
            <a:pathLst>
              <a:path w="463567" h="463567">
                <a:moveTo>
                  <a:pt x="0" y="0"/>
                </a:moveTo>
                <a:lnTo>
                  <a:pt x="463567" y="0"/>
                </a:lnTo>
                <a:lnTo>
                  <a:pt x="463567" y="463568"/>
                </a:lnTo>
                <a:lnTo>
                  <a:pt x="0" y="46356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31" name="Freeform 12">
            <a:extLst>
              <a:ext uri="{FF2B5EF4-FFF2-40B4-BE49-F238E27FC236}">
                <a16:creationId xmlns:a16="http://schemas.microsoft.com/office/drawing/2014/main" id="{29C13A78-A226-D6B7-5D69-10671C9D4D33}"/>
              </a:ext>
            </a:extLst>
          </p:cNvPr>
          <p:cNvSpPr/>
          <p:nvPr/>
        </p:nvSpPr>
        <p:spPr>
          <a:xfrm>
            <a:off x="10011744" y="8775025"/>
            <a:ext cx="639701" cy="479346"/>
          </a:xfrm>
          <a:custGeom>
            <a:avLst/>
            <a:gdLst/>
            <a:ahLst/>
            <a:cxnLst/>
            <a:rect l="l" t="t" r="r" b="b"/>
            <a:pathLst>
              <a:path w="1335740" h="1453867">
                <a:moveTo>
                  <a:pt x="0" y="0"/>
                </a:moveTo>
                <a:lnTo>
                  <a:pt x="1335740" y="0"/>
                </a:lnTo>
                <a:lnTo>
                  <a:pt x="1335740" y="1453867"/>
                </a:lnTo>
                <a:lnTo>
                  <a:pt x="0" y="14538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0CD6BABF-3BC9-276D-2AF4-BF65F0F60421}"/>
              </a:ext>
            </a:extLst>
          </p:cNvPr>
          <p:cNvSpPr/>
          <p:nvPr/>
        </p:nvSpPr>
        <p:spPr>
          <a:xfrm>
            <a:off x="10807036" y="8775025"/>
            <a:ext cx="564552" cy="479346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3" name="Freeform 14">
            <a:extLst>
              <a:ext uri="{FF2B5EF4-FFF2-40B4-BE49-F238E27FC236}">
                <a16:creationId xmlns:a16="http://schemas.microsoft.com/office/drawing/2014/main" id="{3C9890BE-DFB1-B284-7DFD-84F2758818D5}"/>
              </a:ext>
            </a:extLst>
          </p:cNvPr>
          <p:cNvSpPr/>
          <p:nvPr/>
        </p:nvSpPr>
        <p:spPr>
          <a:xfrm>
            <a:off x="10850172" y="9394825"/>
            <a:ext cx="564552" cy="362945"/>
          </a:xfrm>
          <a:custGeom>
            <a:avLst/>
            <a:gdLst/>
            <a:ahLst/>
            <a:cxnLst/>
            <a:rect l="l" t="t" r="r" b="b"/>
            <a:pathLst>
              <a:path w="1176117" h="2490356">
                <a:moveTo>
                  <a:pt x="0" y="0"/>
                </a:moveTo>
                <a:lnTo>
                  <a:pt x="1176117" y="0"/>
                </a:lnTo>
                <a:lnTo>
                  <a:pt x="1176117" y="2490356"/>
                </a:lnTo>
                <a:lnTo>
                  <a:pt x="0" y="249035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id="{F51B84F7-D59A-5D7A-56F1-C3548B632144}"/>
              </a:ext>
            </a:extLst>
          </p:cNvPr>
          <p:cNvSpPr/>
          <p:nvPr/>
        </p:nvSpPr>
        <p:spPr>
          <a:xfrm>
            <a:off x="9296400" y="9411779"/>
            <a:ext cx="639702" cy="362946"/>
          </a:xfrm>
          <a:custGeom>
            <a:avLst/>
            <a:gdLst/>
            <a:ahLst/>
            <a:cxnLst/>
            <a:rect l="l" t="t" r="r" b="b"/>
            <a:pathLst>
              <a:path w="3729710" h="2750661">
                <a:moveTo>
                  <a:pt x="0" y="0"/>
                </a:moveTo>
                <a:lnTo>
                  <a:pt x="3729710" y="0"/>
                </a:lnTo>
                <a:lnTo>
                  <a:pt x="3729710" y="2750661"/>
                </a:lnTo>
                <a:lnTo>
                  <a:pt x="0" y="275066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5" name="Freeform 15">
            <a:extLst>
              <a:ext uri="{FF2B5EF4-FFF2-40B4-BE49-F238E27FC236}">
                <a16:creationId xmlns:a16="http://schemas.microsoft.com/office/drawing/2014/main" id="{0AE91EC4-F86B-EB90-3FD5-DA95F3457D34}"/>
              </a:ext>
            </a:extLst>
          </p:cNvPr>
          <p:cNvSpPr/>
          <p:nvPr/>
        </p:nvSpPr>
        <p:spPr>
          <a:xfrm>
            <a:off x="10073286" y="9394825"/>
            <a:ext cx="639702" cy="362946"/>
          </a:xfrm>
          <a:custGeom>
            <a:avLst/>
            <a:gdLst/>
            <a:ahLst/>
            <a:cxnLst/>
            <a:rect l="l" t="t" r="r" b="b"/>
            <a:pathLst>
              <a:path w="2490356" h="2490356">
                <a:moveTo>
                  <a:pt x="0" y="0"/>
                </a:moveTo>
                <a:lnTo>
                  <a:pt x="2490356" y="0"/>
                </a:lnTo>
                <a:lnTo>
                  <a:pt x="2490356" y="2490356"/>
                </a:lnTo>
                <a:lnTo>
                  <a:pt x="0" y="249035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1" grpId="0"/>
      <p:bldP spid="13" grpId="0"/>
      <p:bldP spid="14" grpId="0"/>
      <p:bldP spid="15" grpId="0"/>
      <p:bldP spid="16" grpId="0"/>
      <p:bldP spid="17" grpId="0"/>
      <p:bldP spid="27" grpId="0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462</Words>
  <Application>Microsoft Office PowerPoint</Application>
  <PresentationFormat>Custom</PresentationFormat>
  <Paragraphs>84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Wingdings</vt:lpstr>
      <vt:lpstr>Poppins Bold</vt:lpstr>
      <vt:lpstr>Calibri</vt:lpstr>
      <vt:lpstr>Arial</vt:lpstr>
      <vt:lpstr>Cairo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White Modern Startup Company Presentation Template</dc:title>
  <dc:creator>M.Elashmawy</dc:creator>
  <cp:lastModifiedBy>محمد  العشماوى جوده سعد</cp:lastModifiedBy>
  <cp:revision>10</cp:revision>
  <dcterms:created xsi:type="dcterms:W3CDTF">2006-08-16T00:00:00Z</dcterms:created>
  <dcterms:modified xsi:type="dcterms:W3CDTF">2025-04-20T12:25:50Z</dcterms:modified>
  <dc:identifier>DAGPks2SyNA</dc:identifier>
</cp:coreProperties>
</file>